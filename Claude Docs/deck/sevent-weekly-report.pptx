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9" y="1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1062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93950" cy="51435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507950"/>
            <a:ext cx="2072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717500"/>
            <a:ext cx="2072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Saudi event marketplace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1000" y="4492675"/>
            <a:ext cx="2072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target — July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28851" y="629692"/>
            <a:ext cx="5181853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20"/>
              </a:lnSpc>
              <a:spcAft>
                <a:spcPts val="1000"/>
              </a:spcAft>
              <a:buNone/>
            </a:pPr>
            <a:r>
              <a:rPr lang="en-US" sz="42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Progress Report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428851" y="2336304"/>
            <a:ext cx="51818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800"/>
              </a:spcAft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at the halfway mark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8851" y="2958554"/>
            <a:ext cx="51818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6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sprints delivered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8851" y="3260080"/>
            <a:ext cx="51818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pilot system built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8851" y="3561606"/>
            <a:ext cx="51818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side </a:t>
            </a:r>
            <a:r>
              <a:rPr lang="en-US" sz="13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Organizer RFQ flow </a:t>
            </a:r>
            <a:r>
              <a:rPr lang="en-US" sz="13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8851" y="4244132"/>
            <a:ext cx="51818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2026-04-16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81000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SEVENT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609600"/>
            <a:ext cx="80316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request. One platform. Full audit trail.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263551"/>
            <a:ext cx="8031682" cy="990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Sevent replaces the old "tender" pattern in the Saudi event industry. An organizer sends </a:t>
            </a:r>
            <a:r>
              <a:rPr lang="en-US" sz="13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request; the platform routes it to the best 3–5 verified suppliers and tracks every step from request through contract. Payments stay off-platform in the pilot — the system records state and generates a legally-consistent contract.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4901" y="2571006"/>
            <a:ext cx="1825675" cy="1694855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/>
          <a:effectLst>
            <a:outerShdw blurRad="38100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4901" y="2594818"/>
            <a:ext cx="1825675" cy="0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8051" y="2847231"/>
            <a:ext cx="1447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8051" y="3148757"/>
            <a:ext cx="1447761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events, sends RFQs, compares quotes, accepts one, reviews the supplier afterwards.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075" y="2571006"/>
            <a:ext cx="1825675" cy="1694855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/>
          <a:effectLst>
            <a:outerShdw blurRad="38100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651075" y="2594818"/>
            <a:ext cx="1825675" cy="0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54226" y="2847231"/>
            <a:ext cx="1447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54226" y="3148757"/>
            <a:ext cx="1447761" cy="888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verified, publishes catalog + pricing, receives RFQs, sends quotes, confirms bookings.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7250" y="2571006"/>
            <a:ext cx="1825675" cy="1694855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/>
          <a:effectLst>
            <a:outerShdw blurRad="38100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7250" y="2594818"/>
            <a:ext cx="1825675" cy="0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70400" y="2847231"/>
            <a:ext cx="1447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0400" y="3148757"/>
            <a:ext cx="1447761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suppliers, resolves disputes, has read-only oversight of the entire system.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83425" y="2571006"/>
            <a:ext cx="1825675" cy="1694855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/>
          <a:effectLst>
            <a:outerShdw blurRad="38100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683425" y="2594818"/>
            <a:ext cx="1825675" cy="0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86575" y="2847231"/>
            <a:ext cx="1447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visitor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86575" y="3148757"/>
            <a:ext cx="1447761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Browses approved suppliers by category and city — no login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81000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609600"/>
            <a:ext cx="80316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Halfway through a 12-week plan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42346" y="1272405"/>
            <a:ext cx="1716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BF9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42346" y="1856556"/>
            <a:ext cx="171645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suppliers seeded (Riyadh + Jeddah)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06146" y="1272405"/>
            <a:ext cx="17164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BF9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906146" y="1856556"/>
            <a:ext cx="1716456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 passing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4901" y="2782193"/>
            <a:ext cx="1227683" cy="1063079"/>
          </a:xfrm>
          <a:prstGeom prst="roundRect">
            <a:avLst>
              <a:gd name="adj" fmla="val 4779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8713" y="2782193"/>
            <a:ext cx="0" cy="1063079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9476" y="2959894"/>
            <a:ext cx="9446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476" y="3153519"/>
            <a:ext cx="944681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&amp; schema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476" y="3534221"/>
            <a:ext cx="944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64085" y="2782193"/>
            <a:ext cx="1227832" cy="1063079"/>
          </a:xfrm>
          <a:prstGeom prst="roundRect">
            <a:avLst>
              <a:gd name="adj" fmla="val 4779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987897" y="2782193"/>
            <a:ext cx="0" cy="1063079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38660" y="2959894"/>
            <a:ext cx="9448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38660" y="3153519"/>
            <a:ext cx="944832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onboarding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38660" y="3534221"/>
            <a:ext cx="9448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3418" y="2782193"/>
            <a:ext cx="1227683" cy="1063079"/>
          </a:xfrm>
          <a:prstGeom prst="roundRect">
            <a:avLst>
              <a:gd name="adj" fmla="val 4779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317230" y="2782193"/>
            <a:ext cx="0" cy="1063079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67993" y="2959894"/>
            <a:ext cx="9446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67993" y="3153519"/>
            <a:ext cx="944681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RFQ &amp; auto-match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67993" y="3534221"/>
            <a:ext cx="944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22602" y="2782193"/>
            <a:ext cx="1227832" cy="1063079"/>
          </a:xfrm>
          <a:prstGeom prst="roundRect">
            <a:avLst>
              <a:gd name="adj" fmla="val 47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46414" y="2782193"/>
            <a:ext cx="0" cy="1063079"/>
          </a:xfrm>
          <a:prstGeom prst="line">
            <a:avLst/>
          </a:prstGeom>
          <a:noFill/>
          <a:ln w="47625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97177" y="2959894"/>
            <a:ext cx="9448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97177" y="3153519"/>
            <a:ext cx="944832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&amp; acceptance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97177" y="3534221"/>
            <a:ext cx="9448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51934" y="2782193"/>
            <a:ext cx="1227832" cy="1063079"/>
          </a:xfrm>
          <a:prstGeom prst="roundRect">
            <a:avLst>
              <a:gd name="adj" fmla="val 47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975747" y="2782193"/>
            <a:ext cx="0" cy="1063079"/>
          </a:xfrm>
          <a:prstGeom prst="line">
            <a:avLst/>
          </a:prstGeom>
          <a:noFill/>
          <a:ln w="47625">
            <a:solidFill>
              <a:srgbClr val="AAB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26510" y="2959894"/>
            <a:ext cx="9448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510" y="3153519"/>
            <a:ext cx="944832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&amp; reviews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510" y="3534221"/>
            <a:ext cx="9448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81267" y="2782193"/>
            <a:ext cx="1227832" cy="1063079"/>
          </a:xfrm>
          <a:prstGeom prst="roundRect">
            <a:avLst>
              <a:gd name="adj" fmla="val 47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7305080" y="2782193"/>
            <a:ext cx="0" cy="1063079"/>
          </a:xfrm>
          <a:prstGeom prst="line">
            <a:avLst/>
          </a:prstGeom>
          <a:noFill/>
          <a:ln w="47625">
            <a:solidFill>
              <a:srgbClr val="AAB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55843" y="2959894"/>
            <a:ext cx="9448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55843" y="3153519"/>
            <a:ext cx="944832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&amp; ship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55843" y="3381970"/>
            <a:ext cx="9448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0" y="3972223"/>
            <a:ext cx="9326880" cy="498277"/>
          </a:xfrm>
          <a:prstGeom prst="rect">
            <a:avLst/>
          </a:prstGeom>
          <a:noFill/>
          <a:ln/>
        </p:spPr>
        <p:txBody>
          <a:bodyPr wrap="square" lIns="635000" tIns="101600" rIns="635000" bIns="2540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 for </a:t>
            </a: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pilot-ready in mid-July 2026</a:t>
            </a: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20–30 friendly suppliers.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55550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BEEN DELIVERED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584150"/>
            <a:ext cx="8031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sprints, three business capabilities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269950"/>
            <a:ext cx="2497634" cy="3556099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38100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63501" y="1977777"/>
            <a:ext cx="2040434" cy="0"/>
          </a:xfrm>
          <a:prstGeom prst="line">
            <a:avLst/>
          </a:prstGeom>
          <a:noFill/>
          <a:ln w="19050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3501" y="1498550"/>
            <a:ext cx="2081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·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3501" y="1657201"/>
            <a:ext cx="20812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3501" y="2139702"/>
            <a:ext cx="2040434" cy="182760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user roles can sign up and sign in.</a:t>
            </a:r>
            <a:endParaRPr lang="en-US" sz="1000" dirty="0"/>
          </a:p>
          <a:p>
            <a:pPr marL="101600" indent="-101600" algn="l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data model designed, built, and protected.</a:t>
            </a:r>
            <a:endParaRPr lang="en-US" sz="1000" dirty="0"/>
          </a:p>
          <a:p>
            <a:pPr marL="101600" indent="-101600" algn="l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backups + documented restore procedure.</a:t>
            </a:r>
            <a:endParaRPr lang="en-US" sz="1000" dirty="0"/>
          </a:p>
          <a:p>
            <a:pPr marL="101600" indent="-101600" algn="l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Booking, review, and dispute flows agreed on paper.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23034" y="1269950"/>
            <a:ext cx="2497782" cy="3556099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38100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551634" y="1977777"/>
            <a:ext cx="2040582" cy="0"/>
          </a:xfrm>
          <a:prstGeom prst="line">
            <a:avLst/>
          </a:prstGeom>
          <a:noFill/>
          <a:ln w="19050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51634" y="1498550"/>
            <a:ext cx="20813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·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51634" y="1657201"/>
            <a:ext cx="20813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side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51634" y="2139702"/>
            <a:ext cx="2040582" cy="228451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3-step onboarding wizard</a:t>
            </a: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suppliers.</a:t>
            </a:r>
            <a:endParaRPr lang="en-US" sz="1000" dirty="0"/>
          </a:p>
          <a:p>
            <a:pPr marL="101600" indent="-101600" algn="l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</a:t>
            </a: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queue</a:t>
            </a: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approval emails.</a:t>
            </a:r>
            <a:endParaRPr lang="en-US" sz="1000" dirty="0"/>
          </a:p>
          <a:p>
            <a:pPr marL="101600" indent="-101600" algn="l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</a:t>
            </a: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public profile page live.</a:t>
            </a:r>
            <a:endParaRPr lang="en-US" sz="1000" dirty="0"/>
          </a:p>
          <a:p>
            <a:pPr marL="101600" indent="-101600" algn="l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</a:t>
            </a: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manual unavailability blocks.</a:t>
            </a:r>
            <a:endParaRPr lang="en-US" sz="1000" dirty="0"/>
          </a:p>
          <a:p>
            <a:pPr marL="101600" indent="-101600" algn="l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pilot suppliers seeded across Riyadh + Jeddah.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11317" y="1269950"/>
            <a:ext cx="2497782" cy="3556099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38100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39917" y="1977777"/>
            <a:ext cx="2040582" cy="0"/>
          </a:xfrm>
          <a:prstGeom prst="line">
            <a:avLst/>
          </a:prstGeom>
          <a:noFill/>
          <a:ln w="19050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9917" y="1498550"/>
            <a:ext cx="20813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39917" y="1657201"/>
            <a:ext cx="20813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&amp; matching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39917" y="2139702"/>
            <a:ext cx="2040582" cy="228451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</a:t>
            </a: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</a:t>
            </a: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category index + city filter.</a:t>
            </a:r>
            <a:endParaRPr lang="en-US" sz="1000" dirty="0"/>
          </a:p>
          <a:p>
            <a:pPr marL="101600" indent="-101600" algn="l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dashboard + event creator.</a:t>
            </a:r>
            <a:endParaRPr lang="en-US" sz="1000" dirty="0"/>
          </a:p>
          <a:p>
            <a:pPr marL="101600" indent="-101600" algn="l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4-step </a:t>
            </a: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RFQ wizard</a:t>
            </a: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response deadline.</a:t>
            </a:r>
            <a:endParaRPr lang="en-US" sz="1000" dirty="0"/>
          </a:p>
          <a:p>
            <a:pPr marL="101600" indent="-101600" algn="l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Auto-match engine</a:t>
            </a: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top 5 suppliers with reasons.</a:t>
            </a:r>
            <a:endParaRPr lang="en-US" sz="1000" dirty="0"/>
          </a:p>
          <a:p>
            <a:pPr marL="101600" indent="-101600" algn="l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</a:t>
            </a: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RFQ inbox</a:t>
            </a: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live countdown.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30101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558701"/>
            <a:ext cx="8031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to signed contract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990451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is a controlled transition — the platform enforces who can act and when.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4401" y="1466701"/>
            <a:ext cx="1135707" cy="2770287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  <a:effectLst>
            <a:outerShdw blurRad="28575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44401" y="1490514"/>
            <a:ext cx="1135707" cy="0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5902" y="1666726"/>
            <a:ext cx="95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BF9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5902" y="1946077"/>
            <a:ext cx="951360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posted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5902" y="2149078"/>
            <a:ext cx="951360" cy="548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creates the event with dates, city, guest count, budget.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5902" y="2748707"/>
            <a:ext cx="9513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630859" y="1466701"/>
            <a:ext cx="1135856" cy="2770287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/>
          <a:effectLst>
            <a:outerShdw blurRad="28575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630859" y="1490514"/>
            <a:ext cx="1135856" cy="0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2359" y="1666726"/>
            <a:ext cx="951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BF9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2359" y="1946077"/>
            <a:ext cx="951512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RFQ sent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2359" y="2149078"/>
            <a:ext cx="951512" cy="548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Auto-match picks top 5; organizer confirms shortlist and deadline.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32359" y="2748707"/>
            <a:ext cx="9515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817465" y="1466701"/>
            <a:ext cx="1135707" cy="2770287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/>
          <a:effectLst>
            <a:outerShdw blurRad="28575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817465" y="1490514"/>
            <a:ext cx="1135707" cy="0"/>
          </a:xfrm>
          <a:prstGeom prst="line">
            <a:avLst/>
          </a:prstGeom>
          <a:noFill/>
          <a:ln w="47625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18966" y="1666726"/>
            <a:ext cx="95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40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918966" y="1946077"/>
            <a:ext cx="951360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received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18966" y="2301329"/>
            <a:ext cx="951360" cy="548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supplier prices a quote; the system snapshots it immutably.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918966" y="2900958"/>
            <a:ext cx="9513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003923" y="1466701"/>
            <a:ext cx="1135856" cy="2770287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/>
          <a:effectLst>
            <a:outerShdw blurRad="28575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003923" y="1490514"/>
            <a:ext cx="1135856" cy="0"/>
          </a:xfrm>
          <a:prstGeom prst="line">
            <a:avLst/>
          </a:prstGeom>
          <a:noFill/>
          <a:ln w="47625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05424" y="1666726"/>
            <a:ext cx="951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40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05424" y="1946077"/>
            <a:ext cx="951512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05424" y="2149078"/>
            <a:ext cx="951512" cy="548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accepts one. Slot is locked — no double booking possible.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05424" y="2748707"/>
            <a:ext cx="9515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190530" y="1466701"/>
            <a:ext cx="1135856" cy="2770287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/>
          <a:effectLst>
            <a:outerShdw blurRad="28575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190530" y="1490514"/>
            <a:ext cx="1135856" cy="0"/>
          </a:xfrm>
          <a:prstGeom prst="line">
            <a:avLst/>
          </a:prstGeom>
          <a:noFill/>
          <a:ln w="47625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92030" y="1666726"/>
            <a:ext cx="951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40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92030" y="1946077"/>
            <a:ext cx="951512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92030" y="2149078"/>
            <a:ext cx="951512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confirms within 48h or the slot auto-releases.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92030" y="2611487"/>
            <a:ext cx="9515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377136" y="1466701"/>
            <a:ext cx="1135856" cy="2770287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/>
          <a:effectLst>
            <a:outerShdw blurRad="28575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377136" y="1490514"/>
            <a:ext cx="1135856" cy="0"/>
          </a:xfrm>
          <a:prstGeom prst="line">
            <a:avLst/>
          </a:prstGeom>
          <a:noFill/>
          <a:ln w="47625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78637" y="1666726"/>
            <a:ext cx="951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40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78637" y="1946077"/>
            <a:ext cx="951512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78637" y="2149078"/>
            <a:ext cx="951512" cy="548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generated from the accepted quote. Emailed to both parties.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78637" y="2748707"/>
            <a:ext cx="9515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5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563743" y="1466701"/>
            <a:ext cx="1135856" cy="2770287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/>
          <a:effectLst>
            <a:outerShdw blurRad="28575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7563743" y="1490514"/>
            <a:ext cx="1135856" cy="0"/>
          </a:xfrm>
          <a:prstGeom prst="line">
            <a:avLst/>
          </a:prstGeom>
          <a:noFill/>
          <a:ln w="47625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665244" y="1666726"/>
            <a:ext cx="951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40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665244" y="1946077"/>
            <a:ext cx="951512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65244" y="2149078"/>
            <a:ext cx="951512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window after the event. Disputes pause publication.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665244" y="2611487"/>
            <a:ext cx="9515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5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34901" y="4617839"/>
            <a:ext cx="833711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today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706166" y="4617839"/>
            <a:ext cx="1020583" cy="14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4 weeks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30101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CONTROLS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558701"/>
            <a:ext cx="8031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platform guarantees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990451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enforced by the system itself — not by procedure, not by user trust.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41252"/>
            <a:ext cx="2523083" cy="1647974"/>
          </a:xfrm>
          <a:prstGeom prst="roundRect">
            <a:avLst>
              <a:gd name="adj" fmla="val 3853"/>
            </a:avLst>
          </a:prstGeom>
          <a:solidFill>
            <a:srgbClr val="FFFFFF"/>
          </a:solidFill>
          <a:ln/>
          <a:effectLst>
            <a:outerShdw blurRad="28575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8713" y="1441252"/>
            <a:ext cx="0" cy="1647974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1126" y="1618952"/>
            <a:ext cx="21105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separation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1126" y="1853803"/>
            <a:ext cx="2110541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 cannot reach supplier or admin areas, and vice versa. Enforced on every screen.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10384" y="1441252"/>
            <a:ext cx="2523083" cy="1647974"/>
          </a:xfrm>
          <a:prstGeom prst="roundRect">
            <a:avLst>
              <a:gd name="adj" fmla="val 3853"/>
            </a:avLst>
          </a:prstGeom>
          <a:solidFill>
            <a:srgbClr val="FFFFFF"/>
          </a:solidFill>
          <a:ln/>
          <a:effectLst>
            <a:outerShdw blurRad="28575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34196" y="1441252"/>
            <a:ext cx="0" cy="1647974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86609" y="1618952"/>
            <a:ext cx="21105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self-approval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86609" y="1853803"/>
            <a:ext cx="2110541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an admin can change a supplier's verified status. Suppliers cannot flip their own state.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85867" y="1441252"/>
            <a:ext cx="2523083" cy="1647974"/>
          </a:xfrm>
          <a:prstGeom prst="roundRect">
            <a:avLst>
              <a:gd name="adj" fmla="val 3853"/>
            </a:avLst>
          </a:prstGeom>
          <a:solidFill>
            <a:srgbClr val="FFFFFF"/>
          </a:solidFill>
          <a:ln/>
          <a:effectLst>
            <a:outerShdw blurRad="28575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09680" y="1441252"/>
            <a:ext cx="0" cy="1647974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2092" y="1618952"/>
            <a:ext cx="21105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double-booking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2092" y="1853803"/>
            <a:ext cx="2110541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slot cannot be booked twice. Acceptance transaction locks the slot or fails cleanly.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4901" y="3241625"/>
            <a:ext cx="2523083" cy="1647974"/>
          </a:xfrm>
          <a:prstGeom prst="roundRect">
            <a:avLst>
              <a:gd name="adj" fmla="val 3853"/>
            </a:avLst>
          </a:prstGeom>
          <a:solidFill>
            <a:srgbClr val="FFFFFF"/>
          </a:solidFill>
          <a:ln/>
          <a:effectLst>
            <a:outerShdw blurRad="28575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58713" y="3241625"/>
            <a:ext cx="0" cy="1647974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1126" y="3419326"/>
            <a:ext cx="21105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quotes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1126" y="3654177"/>
            <a:ext cx="2110541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 quote is sent it cannot be silently edited. Every version is snapshotted with a hash.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384" y="3241625"/>
            <a:ext cx="2523083" cy="1647974"/>
          </a:xfrm>
          <a:prstGeom prst="roundRect">
            <a:avLst>
              <a:gd name="adj" fmla="val 3853"/>
            </a:avLst>
          </a:prstGeom>
          <a:solidFill>
            <a:srgbClr val="FFFFFF"/>
          </a:solidFill>
          <a:ln/>
          <a:effectLst>
            <a:outerShdw blurRad="28575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334196" y="3241625"/>
            <a:ext cx="0" cy="1647974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86609" y="3419326"/>
            <a:ext cx="21105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equals quote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86609" y="3654177"/>
            <a:ext cx="2110541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PDFs are generated from the accepted quote — they cannot disagree.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85867" y="3241625"/>
            <a:ext cx="2523083" cy="1647974"/>
          </a:xfrm>
          <a:prstGeom prst="roundRect">
            <a:avLst>
              <a:gd name="adj" fmla="val 3853"/>
            </a:avLst>
          </a:prstGeom>
          <a:solidFill>
            <a:srgbClr val="FFFFFF"/>
          </a:solidFill>
          <a:ln/>
          <a:effectLst>
            <a:outerShdw blurRad="28575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09680" y="3241625"/>
            <a:ext cx="0" cy="1647974"/>
          </a:xfrm>
          <a:prstGeom prst="line">
            <a:avLst/>
          </a:prstGeom>
          <a:noFill/>
          <a:ln w="47625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62092" y="3419326"/>
            <a:ext cx="21105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Cross-supplier privacy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2092" y="3654177"/>
            <a:ext cx="2110541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A cannot read Supplier B's RFQs, documents, or calendar. Verified by test.</a:t>
            </a:r>
            <a:endParaRPr lang="en-US" sz="95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305FB7E4-F442-16D9-47B2-8A1B3A0865E6}"/>
              </a:ext>
            </a:extLst>
          </p:cNvPr>
          <p:cNvSpPr/>
          <p:nvPr/>
        </p:nvSpPr>
        <p:spPr>
          <a:xfrm>
            <a:off x="3560232" y="2539338"/>
            <a:ext cx="2110541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to be automated using Nafath and CR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57888EF6-9016-6C8A-CE47-A435D1409FFB}"/>
              </a:ext>
            </a:extLst>
          </p:cNvPr>
          <p:cNvSpPr/>
          <p:nvPr/>
        </p:nvSpPr>
        <p:spPr>
          <a:xfrm>
            <a:off x="853078" y="4331419"/>
            <a:ext cx="2110541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disagreements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098F38E8-2D07-74F6-3167-76E5094E0355}"/>
              </a:ext>
            </a:extLst>
          </p:cNvPr>
          <p:cNvSpPr/>
          <p:nvPr/>
        </p:nvSpPr>
        <p:spPr>
          <a:xfrm>
            <a:off x="3486597" y="4293611"/>
            <a:ext cx="2110541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silent changes.</a:t>
            </a:r>
            <a:br>
              <a:rPr lang="en-US" sz="9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documented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95B24E8B-7B13-34A1-86FF-7D684640E6A1}"/>
              </a:ext>
            </a:extLst>
          </p:cNvPr>
          <p:cNvSpPr/>
          <p:nvPr/>
        </p:nvSpPr>
        <p:spPr>
          <a:xfrm>
            <a:off x="6204045" y="4224338"/>
            <a:ext cx="2110541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higher competition and higher Honesty</a:t>
            </a:r>
            <a:endParaRPr lang="en-US" sz="950" dirty="0">
              <a:solidFill>
                <a:srgbClr val="FF0000"/>
              </a:solidFill>
            </a:endParaRP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ED78BF72-0B26-63B4-34D8-CD983A323FDE}"/>
              </a:ext>
            </a:extLst>
          </p:cNvPr>
          <p:cNvSpPr/>
          <p:nvPr/>
        </p:nvSpPr>
        <p:spPr>
          <a:xfrm>
            <a:off x="6162081" y="2564109"/>
            <a:ext cx="2110541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endParaRPr lang="en-US" sz="95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79350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CHOICES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472976"/>
            <a:ext cx="80316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at a glance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853976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slide with technical content — everything else is system behavior.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1209526"/>
            <a:ext cx="4995565" cy="3730823"/>
          </a:xfrm>
          <a:prstGeom prst="roundRect">
            <a:avLst>
              <a:gd name="adj" fmla="val 2042"/>
            </a:avLst>
          </a:prstGeom>
          <a:solidFill>
            <a:srgbClr val="FFFFFF"/>
          </a:solidFill>
          <a:ln/>
          <a:effectLst>
            <a:outerShdw blurRad="38100" dist="21299" dir="378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33616" y="1209526"/>
            <a:ext cx="2675483" cy="3730823"/>
          </a:xfrm>
          <a:prstGeom prst="roundRect">
            <a:avLst>
              <a:gd name="adj" fmla="val 2848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11317" y="1387227"/>
            <a:ext cx="236648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11317" y="1642914"/>
            <a:ext cx="23664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Boring tech, strong invariants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11317" y="2125414"/>
            <a:ext cx="2366483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tools the market understands. No exotic dependencies.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11317" y="2535287"/>
            <a:ext cx="2366483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</a:t>
            </a: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stored as whole halalas — no decimals, no rounding drift.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11317" y="2945160"/>
            <a:ext cx="2366483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state change</a:t>
            </a: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logs who did it and when.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11317" y="3355032"/>
            <a:ext cx="2366483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ever need managed hosting, the same stack moves in a day.</a:t>
            </a:r>
            <a:endParaRPr lang="en-US" sz="900" dirty="0"/>
          </a:p>
        </p:txBody>
      </p:sp>
      <p:pic>
        <p:nvPicPr>
          <p:cNvPr id="14" name="Picture 13" descr="The image displays a comparison chart for various web development services, including self-hosting, Next.js app, PostgreSQL, email solution, contract generation, language support, and deployment options.&#10;&#10;AI-generated content may be incorrect.">
            <a:extLst>
              <a:ext uri="{FF2B5EF4-FFF2-40B4-BE49-F238E27FC236}">
                <a16:creationId xmlns:a16="http://schemas.microsoft.com/office/drawing/2014/main" id="{89FB91C5-E350-B678-242C-116A68F96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01" y="1274884"/>
            <a:ext cx="4986904" cy="301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79350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F9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472976"/>
            <a:ext cx="80316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to pilot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34901" y="1272927"/>
            <a:ext cx="3822799" cy="0"/>
          </a:xfrm>
          <a:prstGeom prst="line">
            <a:avLst/>
          </a:prstGeom>
          <a:noFill/>
          <a:ln w="19050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34901" y="1019026"/>
            <a:ext cx="38992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— next six weeks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383953"/>
            <a:ext cx="3822799" cy="812453"/>
          </a:xfrm>
          <a:prstGeom prst="roundRect">
            <a:avLst>
              <a:gd name="adj" fmla="val 6253"/>
            </a:avLst>
          </a:prstGeom>
          <a:solidFill>
            <a:srgbClr val="FFFFFF"/>
          </a:solidFill>
          <a:ln/>
          <a:effectLst>
            <a:outerShdw blurRad="28575" dist="13470" dir="27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1851" y="1688604"/>
            <a:ext cx="284937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BF9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68152" y="1485454"/>
            <a:ext cx="3225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Pricing, quotes, acceptance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68152" y="1644104"/>
            <a:ext cx="322585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send real priced quotes; organizer accepts; slot is locked.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4901" y="2272605"/>
            <a:ext cx="3822799" cy="812453"/>
          </a:xfrm>
          <a:prstGeom prst="roundRect">
            <a:avLst>
              <a:gd name="adj" fmla="val 6253"/>
            </a:avLst>
          </a:prstGeom>
          <a:solidFill>
            <a:srgbClr val="FFFFFF"/>
          </a:solidFill>
          <a:ln/>
          <a:effectLst>
            <a:outerShdw blurRad="28575" dist="13470" dir="27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1851" y="2577257"/>
            <a:ext cx="284937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BF9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68152" y="2374106"/>
            <a:ext cx="3225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· contract · reviews · disputes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68152" y="2532757"/>
            <a:ext cx="322585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loop closed: confirmation → contract PDF → reviews → disputes.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4901" y="3161258"/>
            <a:ext cx="3822799" cy="812453"/>
          </a:xfrm>
          <a:prstGeom prst="roundRect">
            <a:avLst>
              <a:gd name="adj" fmla="val 6253"/>
            </a:avLst>
          </a:prstGeom>
          <a:solidFill>
            <a:srgbClr val="FFFFFF"/>
          </a:solidFill>
          <a:ln/>
          <a:effectLst>
            <a:outerShdw blurRad="28575" dist="13470" dir="27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1851" y="3465909"/>
            <a:ext cx="284937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BF9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68152" y="3262759"/>
            <a:ext cx="3225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&amp; pilot readiness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68152" y="3421410"/>
            <a:ext cx="3225850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deploy, backup drill, 2–3 friendly suppliers onboarded for real.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86300" y="1272927"/>
            <a:ext cx="3822799" cy="0"/>
          </a:xfrm>
          <a:prstGeom prst="line">
            <a:avLst/>
          </a:prstGeom>
          <a:noFill/>
          <a:ln w="19050">
            <a:solidFill>
              <a:srgbClr val="BF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86300" y="1019026"/>
            <a:ext cx="38992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we're watching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6300" y="1383953"/>
            <a:ext cx="3822799" cy="4327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05350" y="1383953"/>
            <a:ext cx="0" cy="432792"/>
          </a:xfrm>
          <a:prstGeom prst="line">
            <a:avLst/>
          </a:prstGeom>
          <a:noFill/>
          <a:ln w="381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51350" y="1460153"/>
            <a:ext cx="3601414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edge cases.</a:t>
            </a: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the math surfaces many exceptions, we pause UI and refine the model. Budget built in.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86300" y="1880146"/>
            <a:ext cx="3822799" cy="4327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05350" y="1880146"/>
            <a:ext cx="0" cy="432792"/>
          </a:xfrm>
          <a:prstGeom prst="line">
            <a:avLst/>
          </a:prstGeom>
          <a:noFill/>
          <a:ln w="381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51350" y="1956346"/>
            <a:ext cx="3601414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dry-run late in the plan</a:t>
            </a: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may reveal usability blockers. Three Sprint 6 days are reserved for polish only.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86300" y="2376339"/>
            <a:ext cx="3822799" cy="4327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05350" y="2376339"/>
            <a:ext cx="0" cy="432792"/>
          </a:xfrm>
          <a:prstGeom prst="line">
            <a:avLst/>
          </a:prstGeom>
          <a:noFill/>
          <a:ln w="381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51350" y="2452539"/>
            <a:ext cx="3601414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operations load.</a:t>
            </a: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Managed hosting is the fallback if ops starts eating time. Not needed so far.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86300" y="2872532"/>
            <a:ext cx="3822799" cy="4327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705350" y="2872532"/>
            <a:ext cx="0" cy="432792"/>
          </a:xfrm>
          <a:prstGeom prst="line">
            <a:avLst/>
          </a:prstGeom>
          <a:noFill/>
          <a:ln w="381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51350" y="2948732"/>
            <a:ext cx="3601414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environment boot</a:t>
            </a: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only thing blocking an in-browser end-to-end demo today.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0" y="4686598"/>
            <a:ext cx="9144000" cy="45690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4901" y="4788098"/>
            <a:ext cx="726385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4F6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Half the pilot is built. Supplier side is end-to-end. Next six weeks add </a:t>
            </a:r>
            <a:r>
              <a:rPr lang="en-US" sz="1000" b="1" dirty="0">
                <a:solidFill>
                  <a:srgbClr val="BF9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· acceptance · contracts · reviews · deploy</a:t>
            </a:r>
            <a:r>
              <a:rPr lang="en-US" sz="1000" dirty="0">
                <a:solidFill>
                  <a:srgbClr val="F4F6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936</Words>
  <Application>Microsoft Office PowerPoint</Application>
  <PresentationFormat>On-screen Show (16:9)</PresentationFormat>
  <Paragraphs>154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Sevent — Weekly Progress Report</dc:title>
  <dc:subject>PptxGenJS Presentation</dc:subject>
  <dc:creator>Ahmad Rabaya</dc:creator>
  <cp:lastModifiedBy>Ahmad G</cp:lastModifiedBy>
  <cp:revision>3</cp:revision>
  <dcterms:created xsi:type="dcterms:W3CDTF">2026-04-16T10:52:51Z</dcterms:created>
  <dcterms:modified xsi:type="dcterms:W3CDTF">2026-04-16T11:02:55Z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2026-04-16T11:01:39Z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80c4bc4d-9c2c-4326-bd6d-cc3d01817ddc</vt:lpwstr>
  </property>
  <property fmtid="{D5CDD505-2E9C-101B-9397-08002B2CF9AE}" pid="7" name="MSIP_Label_defa4170-0d19-0005-0004-bc88714345d2_ActionId">
    <vt:lpwstr>792c33bf-36d1-4126-8334-1611cfebac3b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