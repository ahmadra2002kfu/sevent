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872" autoAdjust="0"/>
    <p:restoredTop sz="94610"/>
  </p:normalViewPr>
  <p:slideViewPr>
    <p:cSldViewPr snapToGrid="0" snapToObjects="1">
      <p:cViewPr varScale="1">
        <p:scale>
          <a:sx n="76" d="100"/>
          <a:sy n="76" d="100"/>
        </p:scale>
        <p:origin x="62" y="4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115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F5132"/>
          </a:solidFill>
          <a:ln/>
        </p:spPr>
      </p:sp>
      <p:sp>
        <p:nvSpPr>
          <p:cNvPr id="3" name="Text 1"/>
          <p:cNvSpPr/>
          <p:nvPr/>
        </p:nvSpPr>
        <p:spPr>
          <a:xfrm>
            <a:off x="8991295" y="6446520"/>
            <a:ext cx="2743200" cy="320040"/>
          </a:xfrm>
          <a:prstGeom prst="rect">
            <a:avLst/>
          </a:prstGeom>
          <a:noFill/>
          <a:ln/>
        </p:spPr>
        <p:txBody>
          <a:bodyPr wrap="square" rtlCol="0" anchor="ctr"/>
          <a:lstStyle/>
          <a:p>
            <a:pPr marL="0" indent="0" algn="r">
              <a:buNone/>
            </a:pPr>
            <a:r>
              <a:rPr lang="en-US" sz="1000" dirty="0">
                <a:solidFill>
                  <a:srgbClr val="6B7280"/>
                </a:solidFill>
                <a:latin typeface="Cairo" pitchFamily="34" charset="0"/>
                <a:ea typeface="Cairo" pitchFamily="34" charset="-122"/>
                <a:cs typeface="Cairo" pitchFamily="34" charset="-120"/>
              </a:rPr>
              <a:t>منصّة سفنت</a:t>
            </a:r>
            <a:endParaRPr lang="en-US" sz="1000" dirty="0"/>
          </a:p>
        </p:txBody>
      </p:sp>
      <p:sp>
        <p:nvSpPr>
          <p:cNvPr id="25" name="Slide Number Placeholder 0"/>
          <p:cNvSpPr>
            <a:spLocks noGrp="1"/>
          </p:cNvSpPr>
          <p:nvPr>
            <p:ph type="sldNum" sz="quarter" idx="4294967295"/>
          </p:nvPr>
        </p:nvSpPr>
        <p:spPr>
          <a:xfrm>
            <a:off x="457200" y="6446520"/>
            <a:ext cx="13716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46520"/>
            <a:ext cx="137160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Segoe UI"/>
                <a:ea typeface="Segoe UI"/>
                <a:cs typeface="Segoe U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5132"/>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E7D32"/>
          </a:solidFill>
          <a:ln w="12700">
            <a:solidFill>
              <a:srgbClr val="2E7D32"/>
            </a:solidFill>
            <a:prstDash val="solid"/>
          </a:ln>
        </p:spPr>
        <p:txBody>
          <a:bodyPr/>
          <a:lstStyle/>
          <a:p>
            <a:endParaRPr lang="en-US"/>
          </a:p>
        </p:txBody>
      </p:sp>
      <p:sp>
        <p:nvSpPr>
          <p:cNvPr id="3" name="Text 1"/>
          <p:cNvSpPr/>
          <p:nvPr/>
        </p:nvSpPr>
        <p:spPr>
          <a:xfrm>
            <a:off x="731520" y="2103120"/>
            <a:ext cx="10728655" cy="1645920"/>
          </a:xfrm>
          <a:prstGeom prst="rect">
            <a:avLst/>
          </a:prstGeom>
          <a:noFill/>
          <a:ln/>
        </p:spPr>
        <p:txBody>
          <a:bodyPr wrap="square" rtlCol="0" anchor="ctr"/>
          <a:lstStyle/>
          <a:p>
            <a:pPr marL="0" indent="0" algn="r" rtl="1">
              <a:spcAft>
                <a:spcPts val="600"/>
              </a:spcAft>
              <a:buNone/>
            </a:pPr>
            <a:r>
              <a:rPr lang="en-US" sz="5200" b="1" dirty="0">
                <a:solidFill>
                  <a:srgbClr val="FFFFFF"/>
                </a:solidFill>
                <a:latin typeface="Cairo" pitchFamily="34" charset="0"/>
                <a:ea typeface="Cairo" pitchFamily="34" charset="-122"/>
                <a:cs typeface="Cairo" pitchFamily="34" charset="-120"/>
              </a:rPr>
              <a:t>تدفق طلبات عروض الأسعار والعروض الفنية</a:t>
            </a:r>
            <a:endParaRPr lang="en-US" sz="5200" dirty="0"/>
          </a:p>
        </p:txBody>
      </p:sp>
      <p:sp>
        <p:nvSpPr>
          <p:cNvPr id="4" name="Text 2"/>
          <p:cNvSpPr/>
          <p:nvPr/>
        </p:nvSpPr>
        <p:spPr>
          <a:xfrm>
            <a:off x="731520" y="3840480"/>
            <a:ext cx="10728655" cy="914400"/>
          </a:xfrm>
          <a:prstGeom prst="rect">
            <a:avLst/>
          </a:prstGeom>
          <a:noFill/>
          <a:ln/>
        </p:spPr>
        <p:txBody>
          <a:bodyPr wrap="square" rtlCol="0" anchor="ctr"/>
          <a:lstStyle/>
          <a:p>
            <a:pPr marL="0" indent="0" algn="r" rtl="1">
              <a:buNone/>
            </a:pPr>
            <a:r>
              <a:rPr lang="en-US" sz="2200" dirty="0">
                <a:solidFill>
                  <a:srgbClr val="A7F3D0"/>
                </a:solidFill>
                <a:latin typeface="Cairo" pitchFamily="34" charset="0"/>
                <a:ea typeface="Cairo" pitchFamily="34" charset="-122"/>
                <a:cs typeface="Cairo" pitchFamily="34" charset="-120"/>
              </a:rPr>
              <a:t>RFQ / RFP — جولة على التجربة في منصّة سفنت</a:t>
            </a:r>
            <a:endParaRPr lang="en-US" sz="2200" dirty="0"/>
          </a:p>
        </p:txBody>
      </p:sp>
      <p:sp>
        <p:nvSpPr>
          <p:cNvPr id="5" name="Text 3"/>
          <p:cNvSpPr/>
          <p:nvPr/>
        </p:nvSpPr>
        <p:spPr>
          <a:xfrm>
            <a:off x="731520" y="5852160"/>
            <a:ext cx="10728655" cy="457200"/>
          </a:xfrm>
          <a:prstGeom prst="rect">
            <a:avLst/>
          </a:prstGeom>
          <a:noFill/>
          <a:ln/>
        </p:spPr>
        <p:txBody>
          <a:bodyPr wrap="square" rtlCol="0" anchor="ctr"/>
          <a:lstStyle/>
          <a:p>
            <a:pPr marL="0" indent="0" algn="r" rtl="1">
              <a:buNone/>
            </a:pPr>
            <a:r>
              <a:rPr lang="en-US" sz="1400" dirty="0">
                <a:solidFill>
                  <a:srgbClr val="D1FAE5"/>
                </a:solidFill>
                <a:latin typeface="Cairo" pitchFamily="34" charset="0"/>
                <a:ea typeface="Cairo" pitchFamily="34" charset="-122"/>
                <a:cs typeface="Cairo" pitchFamily="34" charset="-120"/>
              </a:rPr>
              <a:t>من إنشاء الطلب حتى مقارنة العروض</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0" y="914400"/>
            <a:ext cx="12191695" cy="2286000"/>
          </a:xfrm>
          <a:prstGeom prst="rect">
            <a:avLst/>
          </a:prstGeom>
          <a:noFill/>
          <a:ln/>
        </p:spPr>
        <p:txBody>
          <a:bodyPr wrap="square" rtlCol="0" anchor="ctr"/>
          <a:lstStyle/>
          <a:p>
            <a:pPr marL="0" indent="0" algn="ctr">
              <a:buNone/>
            </a:pPr>
            <a:r>
              <a:rPr lang="en-US" sz="18000" b="1" dirty="0">
                <a:solidFill>
                  <a:srgbClr val="064E3B"/>
                </a:solidFill>
                <a:latin typeface="Segoe UI" pitchFamily="34" charset="0"/>
                <a:ea typeface="Segoe UI" pitchFamily="34" charset="-122"/>
                <a:cs typeface="Segoe UI" pitchFamily="34" charset="-120"/>
              </a:rPr>
              <a:t>1</a:t>
            </a:r>
            <a:endParaRPr lang="en-US" sz="18000" dirty="0"/>
          </a:p>
        </p:txBody>
      </p:sp>
      <p:sp>
        <p:nvSpPr>
          <p:cNvPr id="3" name="Text 1"/>
          <p:cNvSpPr/>
          <p:nvPr/>
        </p:nvSpPr>
        <p:spPr>
          <a:xfrm>
            <a:off x="457200" y="3474720"/>
            <a:ext cx="11277295" cy="109728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إنشاء طلب العرض من قِبل المنظِّم</a:t>
            </a:r>
            <a:endParaRPr lang="en-US" sz="4000" dirty="0"/>
          </a:p>
        </p:txBody>
      </p:sp>
      <p:sp>
        <p:nvSpPr>
          <p:cNvPr id="4" name="Text 2"/>
          <p:cNvSpPr/>
          <p:nvPr/>
        </p:nvSpPr>
        <p:spPr>
          <a:xfrm>
            <a:off x="457200" y="4572000"/>
            <a:ext cx="11277295" cy="73152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ينشئ المنظِّم طلب عرض ويُحدِّد متطلباته</a:t>
            </a:r>
            <a:endParaRPr lang="en-US" sz="1800" dirty="0"/>
          </a:p>
        </p:txBody>
      </p:sp>
      <p:sp>
        <p:nvSpPr>
          <p:cNvPr id="5" name="Shape 3"/>
          <p:cNvSpPr/>
          <p:nvPr/>
        </p:nvSpPr>
        <p:spPr>
          <a:xfrm>
            <a:off x="5638648" y="5394960"/>
            <a:ext cx="914400" cy="54864"/>
          </a:xfrm>
          <a:prstGeom prst="rect">
            <a:avLst/>
          </a:prstGeom>
          <a:solidFill>
            <a:srgbClr val="2E7D32"/>
          </a:solidFill>
          <a:ln w="12700">
            <a:solidFill>
              <a:srgbClr val="2E7D32"/>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صفحة طلب العرض لدى المنظِّم</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55357.png"/>
          <p:cNvPicPr>
            <a:picLocks noChangeAspect="1"/>
          </p:cNvPicPr>
          <p:nvPr/>
        </p:nvPicPr>
        <p:blipFill>
          <a:blip r:embed="rId3"/>
          <a:srcRect/>
          <a:stretch/>
        </p:blipFill>
        <p:spPr>
          <a:xfrm>
            <a:off x="6631201" y="1353096"/>
            <a:ext cx="5414400" cy="5932762"/>
          </a:xfrm>
          <a:prstGeom prst="rect">
            <a:avLst/>
          </a:prstGeom>
        </p:spPr>
      </p:pic>
      <p:sp>
        <p:nvSpPr>
          <p:cNvPr id="5" name="Text 2"/>
          <p:cNvSpPr/>
          <p:nvPr/>
        </p:nvSpPr>
        <p:spPr>
          <a:xfrm>
            <a:off x="1062001" y="2506572"/>
            <a:ext cx="37116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بعد إنشاء الطلب يفتح المنظِّم صفحة الطلب ليراجع المتطلبات (مثال: «أكل وتجهيز مطبخ») وحالة الطلب «مُرسل». في هذه المرحلة لم تُرسل دعوات بعد للموردين، ويظهر قسم «الموردون المدعوون» فارغًا.</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0" y="914400"/>
            <a:ext cx="12191695" cy="2286000"/>
          </a:xfrm>
          <a:prstGeom prst="rect">
            <a:avLst/>
          </a:prstGeom>
          <a:noFill/>
          <a:ln/>
        </p:spPr>
        <p:txBody>
          <a:bodyPr wrap="square" rtlCol="0" anchor="ctr"/>
          <a:lstStyle/>
          <a:p>
            <a:pPr marL="0" indent="0" algn="ctr">
              <a:buNone/>
            </a:pPr>
            <a:r>
              <a:rPr lang="en-US" sz="18000" b="1" dirty="0">
                <a:solidFill>
                  <a:srgbClr val="064E3B"/>
                </a:solidFill>
                <a:latin typeface="Segoe UI" pitchFamily="34" charset="0"/>
                <a:ea typeface="Segoe UI" pitchFamily="34" charset="-122"/>
                <a:cs typeface="Segoe UI" pitchFamily="34" charset="-120"/>
              </a:rPr>
              <a:t>2</a:t>
            </a:r>
            <a:endParaRPr lang="en-US" sz="18000" dirty="0"/>
          </a:p>
        </p:txBody>
      </p:sp>
      <p:sp>
        <p:nvSpPr>
          <p:cNvPr id="3" name="Text 1"/>
          <p:cNvSpPr/>
          <p:nvPr/>
        </p:nvSpPr>
        <p:spPr>
          <a:xfrm>
            <a:off x="457200" y="3474720"/>
            <a:ext cx="11277295" cy="109728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استقبال الطلب من قِبل المورد</a:t>
            </a:r>
            <a:endParaRPr lang="en-US" sz="4000" dirty="0"/>
          </a:p>
        </p:txBody>
      </p:sp>
      <p:sp>
        <p:nvSpPr>
          <p:cNvPr id="4" name="Text 2"/>
          <p:cNvSpPr/>
          <p:nvPr/>
        </p:nvSpPr>
        <p:spPr>
          <a:xfrm>
            <a:off x="457200" y="4572000"/>
            <a:ext cx="11277295" cy="73152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يصل الطلب إلى الموردين عبر «فرص السوق»</a:t>
            </a:r>
            <a:endParaRPr lang="en-US" sz="1800" dirty="0"/>
          </a:p>
        </p:txBody>
      </p:sp>
      <p:sp>
        <p:nvSpPr>
          <p:cNvPr id="5" name="Shape 3"/>
          <p:cNvSpPr/>
          <p:nvPr/>
        </p:nvSpPr>
        <p:spPr>
          <a:xfrm>
            <a:off x="5638648" y="5394960"/>
            <a:ext cx="914400" cy="54864"/>
          </a:xfrm>
          <a:prstGeom prst="rect">
            <a:avLst/>
          </a:prstGeom>
          <a:solidFill>
            <a:srgbClr val="2E7D32"/>
          </a:solidFill>
          <a:ln w="12700">
            <a:solidFill>
              <a:srgbClr val="2E7D32"/>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فرص السوق لدى المورد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55440.png"/>
          <p:cNvPicPr>
            <a:picLocks noChangeAspect="1"/>
          </p:cNvPicPr>
          <p:nvPr/>
        </p:nvPicPr>
        <p:blipFill>
          <a:blip r:embed="rId3"/>
          <a:srcRect/>
          <a:stretch/>
        </p:blipFill>
        <p:spPr>
          <a:xfrm>
            <a:off x="6249600" y="1417320"/>
            <a:ext cx="5484895" cy="5684998"/>
          </a:xfrm>
          <a:prstGeom prst="rect">
            <a:avLst/>
          </a:prstGeom>
        </p:spPr>
      </p:pic>
      <p:sp>
        <p:nvSpPr>
          <p:cNvPr id="5" name="Text 2"/>
          <p:cNvSpPr/>
          <p:nvPr/>
        </p:nvSpPr>
        <p:spPr>
          <a:xfrm>
            <a:off x="1746001" y="1926720"/>
            <a:ext cx="4265999"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يفتح المورد صفحة «فرص السوق» ليتصفّح طلبات العروض المنشورة. تظهر الفرص مع تفاصيل المدينة والتاريخ والميزانية، ويمكنه تصفيتها بحسب نوع الفعالية أو نطاق السعر قبل الدخول إلى الفرصة المناسبة.</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قائمة الفرص المتاحة للمورد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0208.png"/>
          <p:cNvPicPr>
            <a:picLocks noChangeAspect="1"/>
          </p:cNvPicPr>
          <p:nvPr/>
        </p:nvPicPr>
        <p:blipFill>
          <a:blip r:embed="rId3"/>
          <a:srcRect l="14622" r="12480" b="19316"/>
          <a:stretch>
            <a:fillRect/>
          </a:stretch>
        </p:blipFill>
        <p:spPr>
          <a:xfrm>
            <a:off x="4939200" y="1365984"/>
            <a:ext cx="7113602" cy="5891474"/>
          </a:xfrm>
          <a:prstGeom prst="rect">
            <a:avLst/>
          </a:prstGeom>
        </p:spPr>
      </p:pic>
      <p:sp>
        <p:nvSpPr>
          <p:cNvPr id="5" name="Text 2"/>
          <p:cNvSpPr/>
          <p:nvPr/>
        </p:nvSpPr>
        <p:spPr>
          <a:xfrm>
            <a:off x="997200" y="1720800"/>
            <a:ext cx="3941999" cy="146088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تظهر للمورد جميع الفرص المتاحة سواءً كانت من السوق المفتوح أو من دعوات مباشرة. يضغط على «عرض والتقديم» للدخول إلى تفاصيل الفرصة وتقديم عرضه عليها.</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تفاصيل الفرصة من جهة المورد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55518.png"/>
          <p:cNvPicPr>
            <a:picLocks noChangeAspect="1"/>
          </p:cNvPicPr>
          <p:nvPr/>
        </p:nvPicPr>
        <p:blipFill>
          <a:blip r:embed="rId3"/>
          <a:srcRect/>
          <a:stretch/>
        </p:blipFill>
        <p:spPr>
          <a:xfrm>
            <a:off x="6192000" y="1417319"/>
            <a:ext cx="5715295" cy="5809795"/>
          </a:xfrm>
          <a:prstGeom prst="rect">
            <a:avLst/>
          </a:prstGeom>
        </p:spPr>
      </p:pic>
      <p:sp>
        <p:nvSpPr>
          <p:cNvPr id="5" name="Text 2"/>
          <p:cNvSpPr/>
          <p:nvPr/>
        </p:nvSpPr>
        <p:spPr>
          <a:xfrm>
            <a:off x="2257201" y="1417319"/>
            <a:ext cx="34452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يستعرض المورد تفاصيل الطلب: المدينة، نافذة الفعالية، عدد الضيوف، الميزانية ومتطلبات المنظِّم. ثم يبدأ تقديم عرضه بالضغط على زر «تقديم وإرسال عرض السعر».</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0" y="914400"/>
            <a:ext cx="12191695" cy="2286000"/>
          </a:xfrm>
          <a:prstGeom prst="rect">
            <a:avLst/>
          </a:prstGeom>
          <a:noFill/>
          <a:ln/>
        </p:spPr>
        <p:txBody>
          <a:bodyPr wrap="square" rtlCol="0" anchor="ctr"/>
          <a:lstStyle/>
          <a:p>
            <a:pPr marL="0" indent="0" algn="ctr">
              <a:buNone/>
            </a:pPr>
            <a:r>
              <a:rPr lang="en-US" sz="18000" b="1" dirty="0">
                <a:solidFill>
                  <a:srgbClr val="064E3B"/>
                </a:solidFill>
                <a:latin typeface="Segoe UI" pitchFamily="34" charset="0"/>
                <a:ea typeface="Segoe UI" pitchFamily="34" charset="-122"/>
                <a:cs typeface="Segoe UI" pitchFamily="34" charset="-120"/>
              </a:rPr>
              <a:t>3</a:t>
            </a:r>
            <a:endParaRPr lang="en-US" sz="18000" dirty="0"/>
          </a:p>
        </p:txBody>
      </p:sp>
      <p:sp>
        <p:nvSpPr>
          <p:cNvPr id="3" name="Text 1"/>
          <p:cNvSpPr/>
          <p:nvPr/>
        </p:nvSpPr>
        <p:spPr>
          <a:xfrm>
            <a:off x="457200" y="3474720"/>
            <a:ext cx="11277295" cy="109728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إعداد العرض وإرساله</a:t>
            </a:r>
            <a:endParaRPr lang="en-US" sz="4000" dirty="0"/>
          </a:p>
        </p:txBody>
      </p:sp>
      <p:sp>
        <p:nvSpPr>
          <p:cNvPr id="4" name="Text 2"/>
          <p:cNvSpPr/>
          <p:nvPr/>
        </p:nvSpPr>
        <p:spPr>
          <a:xfrm>
            <a:off x="457200" y="4572000"/>
            <a:ext cx="11277295" cy="73152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يبني المورد عرض السعر ويُرفق ملفه الفني</a:t>
            </a:r>
            <a:endParaRPr lang="en-US" sz="1800" dirty="0"/>
          </a:p>
        </p:txBody>
      </p:sp>
      <p:sp>
        <p:nvSpPr>
          <p:cNvPr id="5" name="Shape 3"/>
          <p:cNvSpPr/>
          <p:nvPr/>
        </p:nvSpPr>
        <p:spPr>
          <a:xfrm>
            <a:off x="5638648" y="5394960"/>
            <a:ext cx="914400" cy="54864"/>
          </a:xfrm>
          <a:prstGeom prst="rect">
            <a:avLst/>
          </a:prstGeom>
          <a:solidFill>
            <a:srgbClr val="2E7D32"/>
          </a:solidFill>
          <a:ln w="12700">
            <a:solidFill>
              <a:srgbClr val="2E7D32"/>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منشئ عرض السعر — بنود التسعير</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0325.png"/>
          <p:cNvPicPr>
            <a:picLocks noChangeAspect="1"/>
          </p:cNvPicPr>
          <p:nvPr/>
        </p:nvPicPr>
        <p:blipFill>
          <a:blip r:embed="rId3"/>
          <a:srcRect/>
          <a:stretch/>
        </p:blipFill>
        <p:spPr>
          <a:xfrm>
            <a:off x="6102305" y="1376172"/>
            <a:ext cx="6089695" cy="3794760"/>
          </a:xfrm>
          <a:prstGeom prst="rect">
            <a:avLst/>
          </a:prstGeom>
        </p:spPr>
      </p:pic>
      <p:sp>
        <p:nvSpPr>
          <p:cNvPr id="5" name="Text 2"/>
          <p:cNvSpPr/>
          <p:nvPr/>
        </p:nvSpPr>
        <p:spPr>
          <a:xfrm>
            <a:off x="1558801" y="1811520"/>
            <a:ext cx="43092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يُدخل المورد بنود التسعير يدويًا (الوصف، الكمية، الوحدة، سعر الوحدة، الإجمالي)، أو يستعين بمحرّك القواعد ليولِّد له مسوّدة جاهزة من باقاته المعرَّفة سلفًا.</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إضافات وشروط ورفع الملف الفني</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0337.png"/>
          <p:cNvPicPr>
            <a:picLocks noChangeAspect="1"/>
          </p:cNvPicPr>
          <p:nvPr/>
        </p:nvPicPr>
        <p:blipFill>
          <a:blip r:embed="rId3"/>
          <a:srcRect/>
          <a:stretch/>
        </p:blipFill>
        <p:spPr>
          <a:xfrm>
            <a:off x="5682895" y="1419102"/>
            <a:ext cx="6478495" cy="5438898"/>
          </a:xfrm>
          <a:prstGeom prst="rect">
            <a:avLst/>
          </a:prstGeom>
        </p:spPr>
      </p:pic>
      <p:sp>
        <p:nvSpPr>
          <p:cNvPr id="5" name="Text 2"/>
          <p:cNvSpPr/>
          <p:nvPr/>
        </p:nvSpPr>
        <p:spPr>
          <a:xfrm>
            <a:off x="1004401" y="1385640"/>
            <a:ext cx="4409999"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يكمل المورد العرض بإضافة رسوم التجهيز والتفكيك، نسبة العربون، شروط الإلغاء، وما يشمله/لا يشمله العرض. كما يمكنه إرفاق ملف فني بصيغة PDF </a:t>
            </a:r>
            <a:r>
              <a:rPr lang="en-US" sz="1600" dirty="0" err="1">
                <a:solidFill>
                  <a:srgbClr val="111827"/>
                </a:solidFill>
                <a:latin typeface="Cairo" pitchFamily="34" charset="0"/>
                <a:ea typeface="Cairo" pitchFamily="34" charset="-122"/>
                <a:cs typeface="Cairo" pitchFamily="34" charset="-120"/>
              </a:rPr>
              <a:t>يوضّح</a:t>
            </a:r>
            <a:r>
              <a:rPr lang="en-US" sz="1600" dirty="0">
                <a:solidFill>
                  <a:srgbClr val="111827"/>
                </a:solidFill>
                <a:latin typeface="Cairo" pitchFamily="34" charset="0"/>
                <a:ea typeface="Cairo" pitchFamily="34" charset="-122"/>
                <a:cs typeface="Cairo" pitchFamily="34" charset="-120"/>
              </a:rPr>
              <a:t> </a:t>
            </a:r>
            <a:r>
              <a:rPr lang="ar-JO" sz="1600" dirty="0">
                <a:solidFill>
                  <a:srgbClr val="111827"/>
                </a:solidFill>
                <a:latin typeface="Cairo" pitchFamily="34" charset="0"/>
                <a:ea typeface="Cairo" pitchFamily="34" charset="-122"/>
                <a:cs typeface="Cairo" pitchFamily="34" charset="-120"/>
              </a:rPr>
              <a:t>التفاصيل التقنية</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تأكيد إرسال العرض للمورد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55814.png"/>
          <p:cNvPicPr>
            <a:picLocks noChangeAspect="1"/>
          </p:cNvPicPr>
          <p:nvPr/>
        </p:nvPicPr>
        <p:blipFill>
          <a:blip r:embed="rId3"/>
          <a:srcRect/>
          <a:stretch/>
        </p:blipFill>
        <p:spPr>
          <a:xfrm>
            <a:off x="6379200" y="1243584"/>
            <a:ext cx="5600095" cy="5581658"/>
          </a:xfrm>
          <a:prstGeom prst="rect">
            <a:avLst/>
          </a:prstGeom>
        </p:spPr>
      </p:pic>
      <p:sp>
        <p:nvSpPr>
          <p:cNvPr id="5" name="Text 2"/>
          <p:cNvSpPr/>
          <p:nvPr/>
        </p:nvSpPr>
        <p:spPr>
          <a:xfrm>
            <a:off x="2156401" y="1588860"/>
            <a:ext cx="35316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بعد إرسال العرض تظهر للمورد رسالة تأكيد بأن عرضه سيظهر للمنظِّم في لوحته. يستعرض المورد ملخّص الفعالية، الإجمالي المُرسل (مثال: 19,000 ر.س)، ومدة صلاحية عرضه، مع إمكانية «تعديل العرض».</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0" y="914400"/>
            <a:ext cx="12191695" cy="2286000"/>
          </a:xfrm>
          <a:prstGeom prst="rect">
            <a:avLst/>
          </a:prstGeom>
          <a:noFill/>
          <a:ln/>
        </p:spPr>
        <p:txBody>
          <a:bodyPr wrap="square" rtlCol="0" anchor="ctr"/>
          <a:lstStyle/>
          <a:p>
            <a:pPr marL="0" indent="0" algn="ctr">
              <a:buNone/>
            </a:pPr>
            <a:r>
              <a:rPr lang="en-US" sz="18000" b="1" dirty="0">
                <a:solidFill>
                  <a:srgbClr val="064E3B"/>
                </a:solidFill>
                <a:latin typeface="Segoe UI" pitchFamily="34" charset="0"/>
                <a:ea typeface="Segoe UI" pitchFamily="34" charset="-122"/>
                <a:cs typeface="Segoe UI" pitchFamily="34" charset="-120"/>
              </a:rPr>
              <a:t>4</a:t>
            </a:r>
            <a:endParaRPr lang="en-US" sz="18000" dirty="0"/>
          </a:p>
        </p:txBody>
      </p:sp>
      <p:sp>
        <p:nvSpPr>
          <p:cNvPr id="3" name="Text 1"/>
          <p:cNvSpPr/>
          <p:nvPr/>
        </p:nvSpPr>
        <p:spPr>
          <a:xfrm>
            <a:off x="457200" y="3474720"/>
            <a:ext cx="11277295" cy="109728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استلام العروض ومقارنتها</a:t>
            </a:r>
            <a:endParaRPr lang="en-US" sz="4000" dirty="0"/>
          </a:p>
        </p:txBody>
      </p:sp>
      <p:sp>
        <p:nvSpPr>
          <p:cNvPr id="4" name="Text 2"/>
          <p:cNvSpPr/>
          <p:nvPr/>
        </p:nvSpPr>
        <p:spPr>
          <a:xfrm>
            <a:off x="457200" y="4572000"/>
            <a:ext cx="11277295" cy="73152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يرى المنظِّم العروض جنبًا إلى جنب</a:t>
            </a:r>
            <a:endParaRPr lang="en-US" sz="1800" dirty="0"/>
          </a:p>
        </p:txBody>
      </p:sp>
      <p:sp>
        <p:nvSpPr>
          <p:cNvPr id="5" name="Shape 3"/>
          <p:cNvSpPr/>
          <p:nvPr/>
        </p:nvSpPr>
        <p:spPr>
          <a:xfrm>
            <a:off x="5638648" y="5394960"/>
            <a:ext cx="914400" cy="54864"/>
          </a:xfrm>
          <a:prstGeom prst="rect">
            <a:avLst/>
          </a:prstGeom>
          <a:solidFill>
            <a:srgbClr val="2E7D32"/>
          </a:solidFill>
          <a:ln w="12700">
            <a:solidFill>
              <a:srgbClr val="2E7D32"/>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وصول العروض إلى لوحة المنظِّم</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2601.png"/>
          <p:cNvPicPr>
            <a:picLocks noChangeAspect="1"/>
          </p:cNvPicPr>
          <p:nvPr/>
        </p:nvPicPr>
        <p:blipFill>
          <a:blip r:embed="rId3"/>
          <a:srcRect r="34025"/>
          <a:stretch>
            <a:fillRect/>
          </a:stretch>
        </p:blipFill>
        <p:spPr>
          <a:xfrm>
            <a:off x="5846400" y="1321308"/>
            <a:ext cx="5997601" cy="5360238"/>
          </a:xfrm>
          <a:prstGeom prst="rect">
            <a:avLst/>
          </a:prstGeom>
        </p:spPr>
      </p:pic>
      <p:sp>
        <p:nvSpPr>
          <p:cNvPr id="5" name="Text 2"/>
          <p:cNvSpPr/>
          <p:nvPr/>
        </p:nvSpPr>
        <p:spPr>
          <a:xfrm>
            <a:off x="766801" y="1717920"/>
            <a:ext cx="45756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تصل عروض الموردين إلى صفحة الطلب لدى المنظِّم. يظهر كل مورد مع حالة عرضه (قدّم عرضًا)، تاريخ الإرسال، والرد إن وُجد — سواء جاء من السوق المفتوح أو من دعوة مباشرة.</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جدول مقارنة العروض</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Comparison Table.png"/>
          <p:cNvPicPr>
            <a:picLocks noChangeAspect="1"/>
          </p:cNvPicPr>
          <p:nvPr/>
        </p:nvPicPr>
        <p:blipFill>
          <a:blip r:embed="rId3"/>
          <a:srcRect/>
          <a:stretch/>
        </p:blipFill>
        <p:spPr>
          <a:xfrm>
            <a:off x="5781601" y="1453896"/>
            <a:ext cx="5952894" cy="5283800"/>
          </a:xfrm>
          <a:prstGeom prst="rect">
            <a:avLst/>
          </a:prstGeom>
        </p:spPr>
      </p:pic>
      <p:sp>
        <p:nvSpPr>
          <p:cNvPr id="5" name="Text 2"/>
          <p:cNvSpPr/>
          <p:nvPr/>
        </p:nvSpPr>
        <p:spPr>
          <a:xfrm>
            <a:off x="2235601" y="1971360"/>
            <a:ext cx="28764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يستخدم المنظِّم «جدول المقارنة» لاستعراض عروض الموردين جنبًا إلى جنب: الإجمالي، المجموع الفرعي، الرسوم، الدفعة المقدمة، جدول الدفع، البنود، والملف الفني. ومن هنا يمكنه قبول العرض الأنسب أو طلب ملف فني إضافي.</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0" y="914400"/>
            <a:ext cx="12191695" cy="2286000"/>
          </a:xfrm>
          <a:prstGeom prst="rect">
            <a:avLst/>
          </a:prstGeom>
          <a:noFill/>
          <a:ln/>
        </p:spPr>
        <p:txBody>
          <a:bodyPr wrap="square" rtlCol="0" anchor="ctr"/>
          <a:lstStyle/>
          <a:p>
            <a:pPr marL="0" indent="0" algn="ctr">
              <a:buNone/>
            </a:pPr>
            <a:r>
              <a:rPr lang="en-US" sz="18000" b="1" dirty="0">
                <a:solidFill>
                  <a:srgbClr val="064E3B"/>
                </a:solidFill>
                <a:latin typeface="Segoe UI" pitchFamily="34" charset="0"/>
                <a:ea typeface="Segoe UI" pitchFamily="34" charset="-122"/>
                <a:cs typeface="Segoe UI" pitchFamily="34" charset="-120"/>
              </a:rPr>
              <a:t>5</a:t>
            </a:r>
            <a:endParaRPr lang="en-US" sz="18000" dirty="0"/>
          </a:p>
        </p:txBody>
      </p:sp>
      <p:sp>
        <p:nvSpPr>
          <p:cNvPr id="3" name="Text 1"/>
          <p:cNvSpPr/>
          <p:nvPr/>
        </p:nvSpPr>
        <p:spPr>
          <a:xfrm>
            <a:off x="457200" y="3474720"/>
            <a:ext cx="11277295" cy="1097280"/>
          </a:xfrm>
          <a:prstGeom prst="rect">
            <a:avLst/>
          </a:prstGeom>
          <a:noFill/>
          <a:ln/>
        </p:spPr>
        <p:txBody>
          <a:bodyPr wrap="square" rtlCol="0" anchor="ctr"/>
          <a:lstStyle/>
          <a:p>
            <a:pPr marL="0" indent="0" algn="ctr" rtl="1">
              <a:buNone/>
            </a:pPr>
            <a:r>
              <a:rPr lang="en-US" sz="4000" b="1" dirty="0">
                <a:solidFill>
                  <a:srgbClr val="FFFFFF"/>
                </a:solidFill>
                <a:latin typeface="Cairo" pitchFamily="34" charset="0"/>
                <a:ea typeface="Cairo" pitchFamily="34" charset="-122"/>
                <a:cs typeface="Cairo" pitchFamily="34" charset="-120"/>
              </a:rPr>
              <a:t>تحويل العرض المقبول إلى حجز</a:t>
            </a:r>
            <a:endParaRPr lang="en-US" sz="4000" dirty="0"/>
          </a:p>
        </p:txBody>
      </p:sp>
      <p:sp>
        <p:nvSpPr>
          <p:cNvPr id="4" name="Text 2"/>
          <p:cNvSpPr/>
          <p:nvPr/>
        </p:nvSpPr>
        <p:spPr>
          <a:xfrm>
            <a:off x="457200" y="4572000"/>
            <a:ext cx="11277295" cy="731520"/>
          </a:xfrm>
          <a:prstGeom prst="rect">
            <a:avLst/>
          </a:prstGeom>
          <a:noFill/>
          <a:ln/>
        </p:spPr>
        <p:txBody>
          <a:bodyPr wrap="square" rtlCol="0" anchor="ctr"/>
          <a:lstStyle/>
          <a:p>
            <a:pPr marL="0" indent="0" algn="ctr" rtl="1">
              <a:buNone/>
            </a:pPr>
            <a:r>
              <a:rPr lang="en-US" sz="1800" dirty="0">
                <a:solidFill>
                  <a:srgbClr val="A7F3D0"/>
                </a:solidFill>
                <a:latin typeface="Cairo" pitchFamily="34" charset="0"/>
                <a:ea typeface="Cairo" pitchFamily="34" charset="-122"/>
                <a:cs typeface="Cairo" pitchFamily="34" charset="-120"/>
              </a:rPr>
              <a:t>تأكيد الحجز من المورد قبل الموعد النهائي</a:t>
            </a:r>
            <a:endParaRPr lang="en-US" sz="1800" dirty="0"/>
          </a:p>
        </p:txBody>
      </p:sp>
      <p:sp>
        <p:nvSpPr>
          <p:cNvPr id="5" name="Shape 3"/>
          <p:cNvSpPr/>
          <p:nvPr/>
        </p:nvSpPr>
        <p:spPr>
          <a:xfrm>
            <a:off x="5638648" y="5394960"/>
            <a:ext cx="914400" cy="54864"/>
          </a:xfrm>
          <a:prstGeom prst="rect">
            <a:avLst/>
          </a:prstGeom>
          <a:solidFill>
            <a:srgbClr val="2E7D32"/>
          </a:solidFill>
          <a:ln w="12700">
            <a:solidFill>
              <a:srgbClr val="2E7D32"/>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وصول الحجز إلى المورد بانتظار التأكيد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1200.png"/>
          <p:cNvPicPr>
            <a:picLocks noChangeAspect="1"/>
          </p:cNvPicPr>
          <p:nvPr/>
        </p:nvPicPr>
        <p:blipFill>
          <a:blip r:embed="rId3"/>
          <a:srcRect/>
          <a:stretch/>
        </p:blipFill>
        <p:spPr>
          <a:xfrm>
            <a:off x="457200" y="1417320"/>
            <a:ext cx="11277295" cy="3794760"/>
          </a:xfrm>
          <a:prstGeom prst="rect">
            <a:avLst/>
          </a:prstGeom>
        </p:spPr>
      </p:pic>
      <p:sp>
        <p:nvSpPr>
          <p:cNvPr id="5" name="Text 2"/>
          <p:cNvSpPr/>
          <p:nvPr/>
        </p:nvSpPr>
        <p:spPr>
          <a:xfrm>
            <a:off x="457200" y="5303520"/>
            <a:ext cx="11277295"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بعد قبول المنظِّم لعرض المورد يتحوّل العرض إلى حجز يظهر في صفحة «الحجوزات» لدى المورد بحالة «بانتظار المورد»، مع عدّاد للموعد النهائي للتأكيد (مثلًا: باقي 48 ساعة).</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تأكيد الحجز أو رفضه من المورد</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2356.png"/>
          <p:cNvPicPr>
            <a:picLocks noChangeAspect="1"/>
          </p:cNvPicPr>
          <p:nvPr/>
        </p:nvPicPr>
        <p:blipFill>
          <a:blip r:embed="rId3"/>
          <a:srcRect l="7875"/>
          <a:stretch>
            <a:fillRect/>
          </a:stretch>
        </p:blipFill>
        <p:spPr>
          <a:xfrm>
            <a:off x="5371200" y="1422107"/>
            <a:ext cx="6766495" cy="4575493"/>
          </a:xfrm>
          <a:prstGeom prst="rect">
            <a:avLst/>
          </a:prstGeom>
        </p:spPr>
      </p:pic>
      <p:sp>
        <p:nvSpPr>
          <p:cNvPr id="5" name="Text 2"/>
          <p:cNvSpPr/>
          <p:nvPr/>
        </p:nvSpPr>
        <p:spPr>
          <a:xfrm>
            <a:off x="1906199" y="2214720"/>
            <a:ext cx="2898001"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يفتح المورد تفاصيل الحجز ليراجع بنود العرض المقبول، ثم يضغط «تأكيد الحجز» لاعتماد الالتزام أو «رفض» إذا تعذّر تنفيذه. لا يكتمل الحجز إلا بهذه الخطوة.</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حجوزات المنظِّم بعد تأكيد الموردين</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1208.png"/>
          <p:cNvPicPr>
            <a:picLocks noChangeAspect="1"/>
          </p:cNvPicPr>
          <p:nvPr/>
        </p:nvPicPr>
        <p:blipFill>
          <a:blip r:embed="rId3"/>
          <a:srcRect/>
          <a:stretch/>
        </p:blipFill>
        <p:spPr>
          <a:xfrm>
            <a:off x="6273226" y="1417320"/>
            <a:ext cx="5461270" cy="4863816"/>
          </a:xfrm>
          <a:prstGeom prst="rect">
            <a:avLst/>
          </a:prstGeom>
        </p:spPr>
      </p:pic>
      <p:sp>
        <p:nvSpPr>
          <p:cNvPr id="5" name="Text 2"/>
          <p:cNvSpPr/>
          <p:nvPr/>
        </p:nvSpPr>
        <p:spPr>
          <a:xfrm>
            <a:off x="1472401" y="1816200"/>
            <a:ext cx="39060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بعد تأكيد المورد يتحوّل الحجز إلى حالة «مؤكَّد» في لوحة المنظِّم. تظهر له جميع حجوزاته مع المورد المعتمد لكل فعالية والإجمالي المتفق عليه.</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11480"/>
            <a:ext cx="11277295" cy="777240"/>
          </a:xfrm>
          <a:prstGeom prst="rect">
            <a:avLst/>
          </a:prstGeom>
          <a:noFill/>
          <a:ln/>
        </p:spPr>
        <p:txBody>
          <a:bodyPr wrap="square" rtlCol="0" anchor="ctr"/>
          <a:lstStyle/>
          <a:p>
            <a:pPr marL="0" indent="0" algn="r" rtl="1">
              <a:buNone/>
            </a:pPr>
            <a:r>
              <a:rPr lang="en-US" sz="3000" b="1" dirty="0">
                <a:solidFill>
                  <a:srgbClr val="1F5132"/>
                </a:solidFill>
                <a:latin typeface="Cairo" pitchFamily="34" charset="0"/>
                <a:ea typeface="Cairo" pitchFamily="34" charset="-122"/>
                <a:cs typeface="Cairo" pitchFamily="34" charset="-120"/>
              </a:rPr>
              <a:t>نظرة عامة على الحجوزات لدى المنظِّم</a:t>
            </a:r>
            <a:endParaRPr lang="en-US" sz="3000" dirty="0"/>
          </a:p>
        </p:txBody>
      </p:sp>
      <p:sp>
        <p:nvSpPr>
          <p:cNvPr id="3" name="Shape 1"/>
          <p:cNvSpPr/>
          <p:nvPr/>
        </p:nvSpPr>
        <p:spPr>
          <a:xfrm>
            <a:off x="10637215" y="1188720"/>
            <a:ext cx="1097280" cy="54864"/>
          </a:xfrm>
          <a:prstGeom prst="rect">
            <a:avLst/>
          </a:prstGeom>
          <a:solidFill>
            <a:srgbClr val="2E7D32"/>
          </a:solidFill>
          <a:ln w="12700">
            <a:solidFill>
              <a:srgbClr val="2E7D32"/>
            </a:solidFill>
            <a:prstDash val="solid"/>
          </a:ln>
        </p:spPr>
        <p:txBody>
          <a:bodyPr/>
          <a:lstStyle/>
          <a:p>
            <a:endParaRPr lang="en-US"/>
          </a:p>
        </p:txBody>
      </p:sp>
      <p:pic>
        <p:nvPicPr>
          <p:cNvPr id="4" name="Image 0" descr="D:\Mufeed\Sevent\Screenshots\RFQ and RFP\Screenshot 2026-04-26 163006.png"/>
          <p:cNvPicPr>
            <a:picLocks noChangeAspect="1"/>
          </p:cNvPicPr>
          <p:nvPr/>
        </p:nvPicPr>
        <p:blipFill>
          <a:blip r:embed="rId3"/>
          <a:srcRect/>
          <a:stretch/>
        </p:blipFill>
        <p:spPr>
          <a:xfrm>
            <a:off x="6400800" y="1417320"/>
            <a:ext cx="5542495" cy="5752706"/>
          </a:xfrm>
          <a:prstGeom prst="rect">
            <a:avLst/>
          </a:prstGeom>
        </p:spPr>
      </p:pic>
      <p:sp>
        <p:nvSpPr>
          <p:cNvPr id="5" name="Text 2"/>
          <p:cNvSpPr/>
          <p:nvPr/>
        </p:nvSpPr>
        <p:spPr>
          <a:xfrm>
            <a:off x="2634001" y="1659960"/>
            <a:ext cx="3157200" cy="822960"/>
          </a:xfrm>
          <a:prstGeom prst="rect">
            <a:avLst/>
          </a:prstGeom>
          <a:noFill/>
          <a:ln/>
        </p:spPr>
        <p:txBody>
          <a:bodyPr wrap="square" rtlCol="0" anchor="t"/>
          <a:lstStyle/>
          <a:p>
            <a:pPr marL="0" indent="0" algn="r" rtl="1">
              <a:buNone/>
            </a:pPr>
            <a:r>
              <a:rPr lang="en-US" sz="1600" dirty="0">
                <a:solidFill>
                  <a:srgbClr val="111827"/>
                </a:solidFill>
                <a:latin typeface="Cairo" pitchFamily="34" charset="0"/>
                <a:ea typeface="Cairo" pitchFamily="34" charset="-122"/>
                <a:cs typeface="Cairo" pitchFamily="34" charset="-120"/>
              </a:rPr>
              <a:t>تجمع صفحة «الحجوزات» كل عقود المنظِّم في مكان واحد، مع إمكانية عرضها في التقويم. يوفّر هذا للمنظِّم رؤية شاملة لارتباطاته مع الموردين قبل بدء الفعالية.</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5132"/>
        </a:solidFill>
        <a:effectLst/>
      </p:bgPr>
    </p:bg>
    <p:spTree>
      <p:nvGrpSpPr>
        <p:cNvPr id="1" name=""/>
        <p:cNvGrpSpPr/>
        <p:nvPr/>
      </p:nvGrpSpPr>
      <p:grpSpPr>
        <a:xfrm>
          <a:off x="0" y="0"/>
          <a:ext cx="0" cy="0"/>
          <a:chOff x="0" y="0"/>
          <a:chExt cx="0" cy="0"/>
        </a:xfrm>
      </p:grpSpPr>
      <p:sp>
        <p:nvSpPr>
          <p:cNvPr id="2" name="Text 0"/>
          <p:cNvSpPr/>
          <p:nvPr/>
        </p:nvSpPr>
        <p:spPr>
          <a:xfrm>
            <a:off x="731520" y="822960"/>
            <a:ext cx="10728655" cy="1097280"/>
          </a:xfrm>
          <a:prstGeom prst="rect">
            <a:avLst/>
          </a:prstGeom>
          <a:noFill/>
          <a:ln/>
        </p:spPr>
        <p:txBody>
          <a:bodyPr wrap="square" rtlCol="0" anchor="ctr"/>
          <a:lstStyle/>
          <a:p>
            <a:pPr marL="0" indent="0" algn="r" rtl="1">
              <a:buNone/>
            </a:pPr>
            <a:r>
              <a:rPr lang="en-US" sz="3800" b="1" dirty="0">
                <a:solidFill>
                  <a:srgbClr val="FFFFFF"/>
                </a:solidFill>
                <a:latin typeface="Cairo" pitchFamily="34" charset="0"/>
                <a:ea typeface="Cairo" pitchFamily="34" charset="-122"/>
                <a:cs typeface="Cairo" pitchFamily="34" charset="-120"/>
              </a:rPr>
              <a:t>خلاصة تدفق RFQ / RFP في سفنت</a:t>
            </a:r>
            <a:endParaRPr lang="en-US" sz="3800" dirty="0"/>
          </a:p>
        </p:txBody>
      </p:sp>
      <p:sp>
        <p:nvSpPr>
          <p:cNvPr id="3" name="Shape 1"/>
          <p:cNvSpPr/>
          <p:nvPr/>
        </p:nvSpPr>
        <p:spPr>
          <a:xfrm>
            <a:off x="10362895" y="1874520"/>
            <a:ext cx="1097280" cy="54864"/>
          </a:xfrm>
          <a:prstGeom prst="rect">
            <a:avLst/>
          </a:prstGeom>
          <a:solidFill>
            <a:srgbClr val="A7F3D0"/>
          </a:solidFill>
          <a:ln w="12700">
            <a:solidFill>
              <a:srgbClr val="A7F3D0"/>
            </a:solidFill>
            <a:prstDash val="solid"/>
          </a:ln>
        </p:spPr>
        <p:txBody>
          <a:bodyPr/>
          <a:lstStyle/>
          <a:p>
            <a:endParaRPr lang="en-US"/>
          </a:p>
        </p:txBody>
      </p:sp>
      <p:sp>
        <p:nvSpPr>
          <p:cNvPr id="4" name="Text 2"/>
          <p:cNvSpPr/>
          <p:nvPr/>
        </p:nvSpPr>
        <p:spPr>
          <a:xfrm>
            <a:off x="731520" y="2194560"/>
            <a:ext cx="10728655" cy="3840480"/>
          </a:xfrm>
          <a:prstGeom prst="rect">
            <a:avLst/>
          </a:prstGeom>
          <a:noFill/>
          <a:ln/>
        </p:spPr>
        <p:txBody>
          <a:bodyPr wrap="square" rtlCol="0" anchor="t"/>
          <a:lstStyle/>
          <a:p>
            <a:pPr marL="279400" indent="-279400" algn="r" rtl="1">
              <a:spcAft>
                <a:spcPts val="1200"/>
              </a:spcAft>
              <a:buSzPct val="100000"/>
              <a:buChar char="•"/>
            </a:pPr>
            <a:r>
              <a:rPr lang="en-US" sz="2000" dirty="0">
                <a:solidFill>
                  <a:srgbClr val="FFFFFF"/>
                </a:solidFill>
                <a:latin typeface="Cairo" pitchFamily="34" charset="0"/>
                <a:ea typeface="Cairo" pitchFamily="34" charset="-122"/>
                <a:cs typeface="Cairo" pitchFamily="34" charset="-120"/>
              </a:rPr>
              <a:t>يُنشئ المنظِّم طلب العرض ويحدّد متطلباتهيستقبل الموردون الطلب عبر «فرص السوق» أو الدعوات المباشرةيُقدِّم كل مورد عرض سعر مفصَّلًا مع ملف فني اختيارييقارن المنظِّم العروض في «جدول المقارنة» ويختار الأنسبيتحوّل العرض المقبول إلى حجز يؤكِّده المورد قبل الموعد النهائي</a:t>
            </a:r>
            <a:endParaRPr lang="en-US" sz="2000" dirty="0"/>
          </a:p>
        </p:txBody>
      </p:sp>
      <p:sp>
        <p:nvSpPr>
          <p:cNvPr id="5" name="Text 3"/>
          <p:cNvSpPr/>
          <p:nvPr/>
        </p:nvSpPr>
        <p:spPr>
          <a:xfrm>
            <a:off x="731520" y="6035040"/>
            <a:ext cx="10728655" cy="457200"/>
          </a:xfrm>
          <a:prstGeom prst="rect">
            <a:avLst/>
          </a:prstGeom>
          <a:noFill/>
          <a:ln/>
        </p:spPr>
        <p:txBody>
          <a:bodyPr wrap="square" rtlCol="0" anchor="ctr"/>
          <a:lstStyle/>
          <a:p>
            <a:pPr marL="0" indent="0" algn="r" rtl="1">
              <a:buNone/>
            </a:pPr>
            <a:r>
              <a:rPr lang="en-US" sz="1400" i="1" dirty="0">
                <a:solidFill>
                  <a:srgbClr val="A7F3D0"/>
                </a:solidFill>
                <a:latin typeface="Cairo" pitchFamily="34" charset="0"/>
                <a:ea typeface="Cairo" pitchFamily="34" charset="-122"/>
                <a:cs typeface="Cairo" pitchFamily="34" charset="-120"/>
              </a:rPr>
              <a:t>ملاحظة: مرحلة التعاقد لاحقة لهذا التدفق وستُغطّى في اجتماع منفصل.</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664</Words>
  <Application>Microsoft Office PowerPoint</Application>
  <PresentationFormat>Widescreen</PresentationFormat>
  <Paragraphs>67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Cairo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Sevent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تدفق طلبات عروض الأسعار والعروض الفنية - سفنت</dc:title>
  <dc:subject>PptxGenJS Presentation</dc:subject>
  <dc:creator>Sevent</dc:creator>
  <cp:lastModifiedBy>Ahmad G</cp:lastModifiedBy>
  <cp:revision>2</cp:revision>
  <dcterms:created xsi:type="dcterms:W3CDTF">2026-04-26T14:29:37Z</dcterms:created>
  <dcterms:modified xsi:type="dcterms:W3CDTF">2026-04-26T14:46:28Z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2026-04-26T14:46:26Z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80c4bc4d-9c2c-4326-bd6d-cc3d01817ddc</vt:lpwstr>
  </property>
  <property fmtid="{D5CDD505-2E9C-101B-9397-08002B2CF9AE}" pid="7" name="MSIP_Label_defa4170-0d19-0005-0004-bc88714345d2_ActionId">
    <vt:lpwstr>3d2c115e-5c6c-4a97-909e-ab72eaf13cc5</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