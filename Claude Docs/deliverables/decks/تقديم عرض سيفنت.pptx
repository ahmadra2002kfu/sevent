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8" r:id="rId4"/>
    <p:sldId id="259" r:id="rId5"/>
    <p:sldId id="260" r:id="rId6"/>
    <p:sldId id="261" r:id="rId7"/>
    <p:sldId id="262" r:id="rId8"/>
    <p:sldId id="279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120" autoAdjust="0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3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64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4A7AE2">
              <a:alpha val="12000"/>
            </a:srgbClr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4A7AE2">
              <a:alpha val="10000"/>
            </a:srgbClr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777240"/>
            <a:ext cx="2926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sevent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1840" y="914400"/>
            <a:ext cx="256032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4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‏بوابتك إلى عالم الفعاليات</a:t>
            </a:r>
            <a:endParaRPr lang="ar-SA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2200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‏منصة سعودية رقمية لقطاع الفعاليات</a:t>
            </a:r>
            <a:endParaRPr lang="ar-SA" sz="2200" dirty="0"/>
          </a:p>
        </p:txBody>
      </p:sp>
      <p:sp>
        <p:nvSpPr>
          <p:cNvPr id="8" name="Shape 5"/>
          <p:cNvSpPr/>
          <p:nvPr/>
        </p:nvSpPr>
        <p:spPr>
          <a:xfrm>
            <a:off x="3200400" y="3931920"/>
            <a:ext cx="2743200" cy="411480"/>
          </a:xfrm>
          <a:prstGeom prst="roundRect">
            <a:avLst>
              <a:gd name="adj" fmla="val 48889"/>
            </a:avLst>
          </a:prstGeom>
          <a:solidFill>
            <a:srgbClr val="1B295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0" y="3931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</a:t>
            </a:r>
            <a:r>
              <a:rPr lang="ar-JO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ال</a:t>
            </a:r>
            <a:r>
              <a:rPr lang="ar-SA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عرض</a:t>
            </a:r>
            <a:r>
              <a:rPr lang="ar-JO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التقديمي لاطلاق منصة سفنت</a:t>
            </a:r>
            <a:endParaRPr lang="ar-SA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‏مايو 2026</a:t>
            </a:r>
            <a:endParaRPr lang="ar-SA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‏نظرة سريعة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‏ما هي سيفنت؟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0" y="16002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«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6492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r" rtl="1">
              <a:spcAft>
                <a:spcPts val="400"/>
              </a:spcAft>
              <a:buFont typeface="Arial"/>
              <a:buChar char="•"/>
            </a:pPr>
            <a:r>
              <a:rPr lang="ar-SA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‏سوق رقمي سعودي متخصص في قطاع الفعاليات</a:t>
            </a:r>
          </a:p>
          <a:p>
            <a:pPr marL="285750" indent="-285750" algn="r" rtl="1">
              <a:spcAft>
                <a:spcPts val="400"/>
              </a:spcAft>
              <a:buFont typeface="Arial"/>
              <a:buChar char="•"/>
            </a:pPr>
            <a:r>
              <a:rPr lang="ar-SA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‏يربط منظّمي الفعاليات بموردين موثوقين</a:t>
            </a:r>
            <a:endParaRPr lang="ar-JO" sz="1600" dirty="0">
              <a:solidFill>
                <a:srgbClr val="374151"/>
              </a:solidFill>
              <a:latin typeface="DIN Next LT Arabic" pitchFamily="34" charset="0"/>
              <a:ea typeface="DIN Next LT Arabic" pitchFamily="34" charset="-122"/>
              <a:cs typeface="DIN Next LT Arabic" pitchFamily="34" charset="-120"/>
            </a:endParaRPr>
          </a:p>
          <a:p>
            <a:pPr marL="285750" indent="-285750" algn="r" rtl="1">
              <a:spcAft>
                <a:spcPts val="400"/>
              </a:spcAft>
              <a:buFont typeface="Arial"/>
              <a:buChar char="•"/>
            </a:pPr>
            <a:r>
              <a:rPr lang="ar-SA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 واحد يستقبل عروضًا تنافسية من موردين معتمدين</a:t>
            </a:r>
            <a:r>
              <a:rPr lang="ar-JO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(</a:t>
            </a:r>
            <a:r>
              <a:rPr lang="en-US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RFQ</a:t>
            </a:r>
            <a:r>
              <a:rPr lang="ar-JO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)</a:t>
            </a:r>
            <a:endParaRPr lang="ar-SA" sz="1600" dirty="0">
              <a:solidFill>
                <a:srgbClr val="374151"/>
              </a:solidFill>
              <a:latin typeface="DIN Next LT Arabic" pitchFamily="34" charset="0"/>
              <a:ea typeface="DIN Next LT Arabic" pitchFamily="34" charset="-122"/>
              <a:cs typeface="DIN Next LT Arabic" pitchFamily="34" charset="-120"/>
            </a:endParaRPr>
          </a:p>
          <a:p>
            <a:pPr marL="285750" indent="-285750" algn="r" rtl="1">
              <a:spcAft>
                <a:spcPts val="400"/>
              </a:spcAft>
              <a:buFont typeface="Arial"/>
              <a:buChar char="•"/>
            </a:pPr>
            <a:r>
              <a:rPr lang="ar-SA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‏مقارنة </a:t>
            </a:r>
            <a:r>
              <a:rPr lang="ar-JO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و أوامر شراء</a:t>
            </a:r>
            <a:r>
              <a:rPr lang="ar-SA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، مع سجل </a:t>
            </a:r>
            <a:r>
              <a:rPr lang="ar-JO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واضح</a:t>
            </a:r>
            <a:r>
              <a:rPr lang="ar-SA" sz="16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لكل خطوة</a:t>
            </a:r>
          </a:p>
        </p:txBody>
      </p:sp>
      <p:sp>
        <p:nvSpPr>
          <p:cNvPr id="7" name="Shape 5"/>
          <p:cNvSpPr/>
          <p:nvPr/>
        </p:nvSpPr>
        <p:spPr>
          <a:xfrm>
            <a:off x="525780" y="41605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0FD"/>
          </a:solidFill>
          <a:ln w="9525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578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‏سوق رقمي محلي</a:t>
            </a:r>
            <a:endParaRPr lang="ar-SA" sz="1200" dirty="0"/>
          </a:p>
        </p:txBody>
      </p:sp>
      <p:sp>
        <p:nvSpPr>
          <p:cNvPr id="9" name="Shape 7"/>
          <p:cNvSpPr/>
          <p:nvPr/>
        </p:nvSpPr>
        <p:spPr>
          <a:xfrm>
            <a:off x="3268980" y="41605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0FD"/>
          </a:solidFill>
          <a:ln w="9525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898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‏موردون </a:t>
            </a:r>
            <a:r>
              <a:rPr lang="ar-JO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موثوقون</a:t>
            </a:r>
            <a:endParaRPr lang="ar-SA" sz="1200" dirty="0"/>
          </a:p>
        </p:txBody>
      </p:sp>
      <p:sp>
        <p:nvSpPr>
          <p:cNvPr id="11" name="Shape 9"/>
          <p:cNvSpPr/>
          <p:nvPr/>
        </p:nvSpPr>
        <p:spPr>
          <a:xfrm>
            <a:off x="6012180" y="416052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AF0FD"/>
          </a:solidFill>
          <a:ln w="9525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1218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‏سجل </a:t>
            </a:r>
            <a:r>
              <a:rPr lang="ar-JO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واضح</a:t>
            </a: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لكل خطوة</a:t>
            </a:r>
            <a:endParaRPr lang="ar-SA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2 / 17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  <p:extLst>
      <p:ext uri="{BB962C8B-B14F-4D97-AF65-F5344CB8AC3E}">
        <p14:creationId xmlns:p14="http://schemas.microsoft.com/office/powerpoint/2010/main" val="42139848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139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4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153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‏لماذا سيفنت؟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‏المشكلة في السوق اليوم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16916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09560" y="1965960"/>
            <a:ext cx="502920" cy="50292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6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9659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‏صعوبة إيجاد المورّد المناسب</a:t>
            </a:r>
            <a:endParaRPr lang="ar-SA" sz="1500" dirty="0"/>
          </a:p>
        </p:txBody>
      </p:sp>
      <p:sp>
        <p:nvSpPr>
          <p:cNvPr id="8" name="Text 5"/>
          <p:cNvSpPr/>
          <p:nvPr/>
        </p:nvSpPr>
        <p:spPr>
          <a:xfrm>
            <a:off x="4983480" y="2468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‏لا توجد مرجعية موحّدة تضم موردين مُتحقَّق منهم بتقييمات حقيقية ونطاق عمل واضح.</a:t>
            </a:r>
            <a:endParaRPr lang="ar-SA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301" y="20866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19659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‏غياب الشفافية في الأسعار</a:t>
            </a:r>
            <a:endParaRPr lang="ar-SA" sz="1500" dirty="0"/>
          </a:p>
        </p:txBody>
      </p:sp>
      <p:sp>
        <p:nvSpPr>
          <p:cNvPr id="13" name="Text 9"/>
          <p:cNvSpPr/>
          <p:nvPr/>
        </p:nvSpPr>
        <p:spPr>
          <a:xfrm>
            <a:off x="731520" y="2468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‏الأسعار تعتمد على العلاقات الشخصية، والخدمة نفسها قد تكلّف مبالغ متفاوتة جدًا.</a:t>
            </a:r>
            <a:endParaRPr lang="ar-SA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33375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909560" y="3611880"/>
            <a:ext cx="502920" cy="50292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261" y="37325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3611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‏إهدار الوقت</a:t>
            </a:r>
            <a:endParaRPr lang="ar-SA" sz="1500" dirty="0"/>
          </a:p>
        </p:txBody>
      </p:sp>
      <p:sp>
        <p:nvSpPr>
          <p:cNvPr id="18" name="Text 13"/>
          <p:cNvSpPr/>
          <p:nvPr/>
        </p:nvSpPr>
        <p:spPr>
          <a:xfrm>
            <a:off x="4983480" y="41148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‏أسابيع تُصرف على البحث عن موردي فعالية واحدة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.</a:t>
            </a:r>
            <a:endParaRPr lang="ar-SA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3375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657600" y="3611880"/>
            <a:ext cx="502920" cy="50292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301" y="37325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3611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‏الجودة </a:t>
            </a:r>
            <a:r>
              <a:rPr lang="ar-JO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غير مضمونة</a:t>
            </a:r>
            <a:endParaRPr lang="ar-SA" sz="1500" dirty="0"/>
          </a:p>
        </p:txBody>
      </p:sp>
      <p:sp>
        <p:nvSpPr>
          <p:cNvPr id="23" name="Text 17"/>
          <p:cNvSpPr/>
          <p:nvPr/>
        </p:nvSpPr>
        <p:spPr>
          <a:xfrm>
            <a:off x="731520" y="41148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‏بلا نظام تقييم موثوق، تتكرر التجارب السيئة ولا تتم محاسبة الموردين.</a:t>
            </a:r>
            <a:endParaRPr lang="ar-SA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3 / 17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‏السياق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‏سياق السوق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F1B3D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‏رؤية 2030</a:t>
            </a:r>
            <a:endParaRPr lang="ar-SA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‏قطاع الفعاليات والترفيه في المملكة يتوسّع بسرعة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200" dirty="0">
                <a:solidFill>
                  <a:srgbClr val="C5D1F0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‏مواسم ومهرجانات، فعاليات أعمال وثقافة، نمو سياحي، واستحقاقات دولية كبرى قادمة.</a:t>
            </a:r>
            <a:endParaRPr lang="ar-SA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4343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17373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 متزايد</a:t>
            </a:r>
            <a:endParaRPr lang="ar-SA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2057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‏فعاليات أكثر كل عام تعني حاجة أسرع وأوسع لإيجاد موردين موثوقين.</a:t>
            </a:r>
            <a:endParaRPr lang="ar-SA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596896"/>
            <a:ext cx="4343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64261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‏توجّه نحو الرقمنة</a:t>
            </a:r>
            <a:endParaRPr lang="ar-SA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96265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‏اقتصاد رقمي ورسمي يدفع قطاع الفعاليات للخروج من الطابع غير الرسمي.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3502152"/>
            <a:ext cx="4343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35478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‏فراغ في السوق</a:t>
            </a:r>
            <a:endParaRPr lang="ar-SA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386791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‏لا توجد منصة محلية مهيمنة بالعربية مبنية خصيصًا لطريقة عمل هذا القطاع.</a:t>
            </a:r>
            <a:endParaRPr lang="ar-SA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4 /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‏الجمهور المستهدف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</a:t>
            </a:r>
            <a:r>
              <a:rPr lang="ar-JO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مستخدمين </a:t>
            </a: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سيفنت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16002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1874520"/>
            <a:ext cx="594360" cy="5943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046" y="20171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828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‏منظّمو الفعاليات (المشترون)</a:t>
            </a:r>
            <a:endParaRPr lang="ar-SA" sz="1500" dirty="0"/>
          </a:p>
        </p:txBody>
      </p:sp>
      <p:sp>
        <p:nvSpPr>
          <p:cNvPr id="8" name="Text 5"/>
          <p:cNvSpPr/>
          <p:nvPr/>
        </p:nvSpPr>
        <p:spPr>
          <a:xfrm>
            <a:off x="4983480" y="21671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0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‏اليوم، B2B</a:t>
            </a:r>
            <a:endParaRPr lang="ar-SA" sz="1000" dirty="0"/>
          </a:p>
        </p:txBody>
      </p:sp>
      <p:sp>
        <p:nvSpPr>
          <p:cNvPr id="9" name="Text 6"/>
          <p:cNvSpPr/>
          <p:nvPr/>
        </p:nvSpPr>
        <p:spPr>
          <a:xfrm>
            <a:off x="4983480" y="25146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‏مخطّطون وشركات وفِرق تنظّم فعاليات وتحتاج موردين بسرعة وثقة، بمرجعية موحّد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ة.</a:t>
            </a:r>
            <a:endParaRPr lang="ar-SA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6002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20440" y="1874520"/>
            <a:ext cx="594360" cy="5943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86" y="201716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18288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‏موردو الخدمات (البائعون)</a:t>
            </a:r>
            <a:endParaRPr lang="ar-SA" sz="1500" dirty="0"/>
          </a:p>
        </p:txBody>
      </p:sp>
      <p:sp>
        <p:nvSpPr>
          <p:cNvPr id="14" name="Text 10"/>
          <p:cNvSpPr/>
          <p:nvPr/>
        </p:nvSpPr>
        <p:spPr>
          <a:xfrm>
            <a:off x="731520" y="21671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0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‏اليوم، B2B</a:t>
            </a:r>
            <a:endParaRPr lang="ar-SA" sz="1000" dirty="0"/>
          </a:p>
        </p:txBody>
      </p:sp>
      <p:sp>
        <p:nvSpPr>
          <p:cNvPr id="15" name="Text 11"/>
          <p:cNvSpPr/>
          <p:nvPr/>
        </p:nvSpPr>
        <p:spPr>
          <a:xfrm>
            <a:off x="731520" y="2514600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‏أصحاب أعمال صغيرة ومتوسطة في الصوت والإضاءة والضيافة والتصوير والمسارح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لكن مع </a:t>
            </a: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حضورهم الرقمي 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ال</a:t>
            </a: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ضعيف.</a:t>
            </a:r>
            <a:endParaRPr lang="ar-SA" sz="1100" dirty="0"/>
          </a:p>
        </p:txBody>
      </p:sp>
      <p:sp>
        <p:nvSpPr>
          <p:cNvPr id="16" name="Shape 12"/>
          <p:cNvSpPr/>
          <p:nvPr/>
        </p:nvSpPr>
        <p:spPr>
          <a:xfrm>
            <a:off x="4709160" y="34747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909560" y="3749040"/>
            <a:ext cx="502920" cy="50292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261" y="386974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‏الأفراد (المستهلكون)</a:t>
            </a:r>
            <a:endParaRPr lang="ar-SA" sz="1300" dirty="0"/>
          </a:p>
        </p:txBody>
      </p:sp>
      <p:sp>
        <p:nvSpPr>
          <p:cNvPr id="20" name="Text 15"/>
          <p:cNvSpPr/>
          <p:nvPr/>
        </p:nvSpPr>
        <p:spPr>
          <a:xfrm>
            <a:off x="4983480" y="39502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‏مرحلة لاحقة مخطّطة</a:t>
            </a:r>
            <a:endParaRPr lang="ar-SA" sz="900" dirty="0"/>
          </a:p>
        </p:txBody>
      </p:sp>
      <p:sp>
        <p:nvSpPr>
          <p:cNvPr id="21" name="Text 16"/>
          <p:cNvSpPr/>
          <p:nvPr/>
        </p:nvSpPr>
        <p:spPr>
          <a:xfrm>
            <a:off x="4983480" y="41879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‏أفراد يخططون لأعراس ومناسبات عائلية. تجربة جمهور عام بعد رسوخ السوق المهني.</a:t>
            </a:r>
            <a:endParaRPr lang="ar-SA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4747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657600" y="3749040"/>
            <a:ext cx="502920" cy="50292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301" y="386974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‏فريق سيفنت (الإدارة)</a:t>
            </a:r>
            <a:endParaRPr lang="ar-SA" sz="1300" dirty="0"/>
          </a:p>
        </p:txBody>
      </p:sp>
      <p:sp>
        <p:nvSpPr>
          <p:cNvPr id="26" name="Text 20"/>
          <p:cNvSpPr/>
          <p:nvPr/>
        </p:nvSpPr>
        <p:spPr>
          <a:xfrm>
            <a:off x="731520" y="39502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‏طبقة داخلية</a:t>
            </a:r>
            <a:endParaRPr lang="ar-SA" sz="900" dirty="0"/>
          </a:p>
        </p:txBody>
      </p:sp>
      <p:sp>
        <p:nvSpPr>
          <p:cNvPr id="27" name="Text 21"/>
          <p:cNvSpPr/>
          <p:nvPr/>
        </p:nvSpPr>
        <p:spPr>
          <a:xfrm>
            <a:off x="731520" y="418795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‏يراجع الموردين ويتحقق من اعتمادهم، يرصد النشاط، يدير الملاحظات، ويحافظ على ثقة السوق.</a:t>
            </a:r>
            <a:endParaRPr lang="ar-SA" sz="1000" dirty="0"/>
          </a:p>
        </p:txBody>
      </p:sp>
      <p:sp>
        <p:nvSpPr>
          <p:cNvPr id="28" name="Text 22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5 / 17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‏المقارنة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‏الطريقة التقليدية مقابل سيفنت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572000" y="16916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‏الطريقة التقليدية</a:t>
            </a:r>
            <a:endParaRPr lang="ar-SA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81051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69164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5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‏على سيفنت</a:t>
            </a:r>
            <a:endParaRPr lang="ar-SA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81051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2286000"/>
            <a:ext cx="4114800" cy="438912"/>
          </a:xfrm>
          <a:prstGeom prst="rect">
            <a:avLst/>
          </a:prstGeom>
          <a:solidFill>
            <a:srgbClr val="F6F8FC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46320" y="22860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‏أسابيع من البحث عبر المعارف وتطبيقات الدردشة</a:t>
            </a:r>
            <a:endParaRPr lang="ar-SA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4114800" cy="438912"/>
          </a:xfrm>
          <a:prstGeom prst="rect">
            <a:avLst/>
          </a:prstGeom>
          <a:solidFill>
            <a:srgbClr val="EAF0FD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31520" y="22860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 واحد يصل إلى موردين مُتحقَّق منهم دفعة واحدة</a:t>
            </a:r>
            <a:endParaRPr lang="ar-SA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2724912"/>
            <a:ext cx="4114800" cy="438912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46320" y="2724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نماذج تسعير غير واضحة</a:t>
            </a:r>
            <a:endParaRPr lang="ar-SA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24912"/>
            <a:ext cx="4114800" cy="438912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31520" y="272491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‏عروض منظَّمة قابلة للمقارنة جنبًا إلى جنب</a:t>
            </a:r>
            <a:endParaRPr lang="ar-SA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3163824"/>
            <a:ext cx="4114800" cy="438912"/>
          </a:xfrm>
          <a:prstGeom prst="rect">
            <a:avLst/>
          </a:prstGeom>
          <a:solidFill>
            <a:srgbClr val="F6F8FC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46320" y="31638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‏اتفاقات شفهية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و</a:t>
            </a: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غير رسمية</a:t>
            </a:r>
            <a:endParaRPr lang="ar-SA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3163824"/>
            <a:ext cx="4114800" cy="438912"/>
          </a:xfrm>
          <a:prstGeom prst="rect">
            <a:avLst/>
          </a:prstGeom>
          <a:solidFill>
            <a:srgbClr val="EAF0FD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31520" y="316382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‏سجل موثّق من الطلب إلى </a:t>
            </a:r>
            <a:r>
              <a:rPr lang="ar-JO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أوامر الشراء</a:t>
            </a:r>
            <a:endParaRPr lang="ar-SA" sz="1100" dirty="0"/>
          </a:p>
        </p:txBody>
      </p:sp>
      <p:sp>
        <p:nvSpPr>
          <p:cNvPr id="22" name="Shape 18"/>
          <p:cNvSpPr/>
          <p:nvPr/>
        </p:nvSpPr>
        <p:spPr>
          <a:xfrm>
            <a:off x="4572000" y="3602736"/>
            <a:ext cx="4114800" cy="438912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36027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التواصل الشفهي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و المعارف هي الوسيلة الوحيدة لتوسيع العمل </a:t>
            </a:r>
            <a:endParaRPr lang="ar-SA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602736"/>
            <a:ext cx="4114800" cy="438912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731520" y="360273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‏ملفات مُتحقَّق منها وتقييمات مرتبطة بحجوزات حقيقية</a:t>
            </a:r>
            <a:endParaRPr lang="ar-SA" sz="1100" dirty="0"/>
          </a:p>
        </p:txBody>
      </p:sp>
      <p:sp>
        <p:nvSpPr>
          <p:cNvPr id="26" name="Shape 22"/>
          <p:cNvSpPr/>
          <p:nvPr/>
        </p:nvSpPr>
        <p:spPr>
          <a:xfrm>
            <a:off x="4572000" y="4041648"/>
            <a:ext cx="4114800" cy="438912"/>
          </a:xfrm>
          <a:prstGeom prst="rect">
            <a:avLst/>
          </a:prstGeom>
          <a:solidFill>
            <a:srgbClr val="F6F8FC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46320" y="40416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‏لا توجد رؤية مركزية لأعمالك</a:t>
            </a:r>
            <a:endParaRPr lang="ar-SA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4041648"/>
            <a:ext cx="4114800" cy="438912"/>
          </a:xfrm>
          <a:prstGeom prst="rect">
            <a:avLst/>
          </a:prstGeom>
          <a:solidFill>
            <a:srgbClr val="EAF0FD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31520" y="404164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‏لوحة واحدة لكل فعالية وعرض </a:t>
            </a:r>
            <a:r>
              <a:rPr lang="ar-JO" sz="11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وأمر شراء</a:t>
            </a:r>
            <a:endParaRPr lang="ar-SA" sz="1100" dirty="0"/>
          </a:p>
        </p:txBody>
      </p:sp>
      <p:sp>
        <p:nvSpPr>
          <p:cNvPr id="30" name="Text 2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6 / 17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139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139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‏تجربة المنصة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‏كيف تعمل سيفنت: أربع مراحل</a:t>
            </a:r>
            <a:endParaRPr lang="ar-SA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816352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816352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2816352"/>
            <a:ext cx="219456" cy="21945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652260" y="17830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793242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93242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7223760" y="2194560"/>
            <a:ext cx="731520" cy="73152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5" y="2370125"/>
            <a:ext cx="380390" cy="3803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78942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‏انشر الطلب</a:t>
            </a:r>
            <a:endParaRPr lang="ar-SA" sz="1400" dirty="0"/>
          </a:p>
        </p:txBody>
      </p:sp>
      <p:sp>
        <p:nvSpPr>
          <p:cNvPr id="13" name="Text 7"/>
          <p:cNvSpPr/>
          <p:nvPr/>
        </p:nvSpPr>
        <p:spPr>
          <a:xfrm>
            <a:off x="678942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‏ينشر المنظّم احتياج فعاليته بنطاق وميزانية واضحة.</a:t>
            </a:r>
            <a:endParaRPr lang="ar-SA" sz="1000" dirty="0"/>
          </a:p>
        </p:txBody>
      </p:sp>
      <p:sp>
        <p:nvSpPr>
          <p:cNvPr id="14" name="Shape 8"/>
          <p:cNvSpPr/>
          <p:nvPr/>
        </p:nvSpPr>
        <p:spPr>
          <a:xfrm>
            <a:off x="4640580" y="17830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592074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592074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212080" y="2194560"/>
            <a:ext cx="731520" cy="73152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645" y="2370125"/>
            <a:ext cx="380390" cy="38039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7774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‏ادعُ الموردين</a:t>
            </a:r>
            <a:endParaRPr lang="ar-SA" sz="1400" dirty="0"/>
          </a:p>
        </p:txBody>
      </p:sp>
      <p:sp>
        <p:nvSpPr>
          <p:cNvPr id="20" name="Text 13"/>
          <p:cNvSpPr/>
          <p:nvPr/>
        </p:nvSpPr>
        <p:spPr>
          <a:xfrm>
            <a:off x="477774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‏يدعو موردين بعينهم أو يصل إلى المطابقين عبر المنصة.</a:t>
            </a:r>
            <a:endParaRPr lang="ar-SA" sz="1000" dirty="0"/>
          </a:p>
        </p:txBody>
      </p:sp>
      <p:sp>
        <p:nvSpPr>
          <p:cNvPr id="21" name="Shape 14"/>
          <p:cNvSpPr/>
          <p:nvPr/>
        </p:nvSpPr>
        <p:spPr>
          <a:xfrm>
            <a:off x="2628900" y="17830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390906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390906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200400" y="2194560"/>
            <a:ext cx="731520" cy="73152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965" y="2370125"/>
            <a:ext cx="380390" cy="38039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6606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‏قارن العروض</a:t>
            </a:r>
            <a:endParaRPr lang="ar-SA" sz="1400" dirty="0"/>
          </a:p>
        </p:txBody>
      </p:sp>
      <p:sp>
        <p:nvSpPr>
          <p:cNvPr id="27" name="Text 19"/>
          <p:cNvSpPr/>
          <p:nvPr/>
        </p:nvSpPr>
        <p:spPr>
          <a:xfrm>
            <a:off x="276606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‏عرض موحّد للمقارنة بين العروض من حيث السعر والنطاق والتقييم.</a:t>
            </a:r>
            <a:endParaRPr lang="ar-SA" sz="1000" dirty="0"/>
          </a:p>
        </p:txBody>
      </p:sp>
      <p:sp>
        <p:nvSpPr>
          <p:cNvPr id="28" name="Shape 20"/>
          <p:cNvSpPr/>
          <p:nvPr/>
        </p:nvSpPr>
        <p:spPr>
          <a:xfrm>
            <a:off x="617220" y="17830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189738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189738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188720" y="2194560"/>
            <a:ext cx="731520" cy="73152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285" y="2370125"/>
            <a:ext cx="380390" cy="38039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54380" y="30175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</a:t>
            </a:r>
            <a:r>
              <a:rPr lang="ar-JO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أمر الشراء</a:t>
            </a: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و</a:t>
            </a:r>
            <a:r>
              <a:rPr lang="ar-JO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التأكيد</a:t>
            </a:r>
            <a:endParaRPr lang="ar-SA" sz="1400" dirty="0"/>
          </a:p>
        </p:txBody>
      </p:sp>
      <p:sp>
        <p:nvSpPr>
          <p:cNvPr id="34" name="Text 25"/>
          <p:cNvSpPr/>
          <p:nvPr/>
        </p:nvSpPr>
        <p:spPr>
          <a:xfrm>
            <a:off x="754380" y="33832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‏قبول العرض يُنشئ حجزًا. يصبح السجل المشترك للاتفاق.</a:t>
            </a:r>
            <a:endParaRPr lang="ar-SA" sz="1000" dirty="0"/>
          </a:p>
        </p:txBody>
      </p:sp>
      <p:sp>
        <p:nvSpPr>
          <p:cNvPr id="35" name="Text 2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300" i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‏من «أحتاج شيئًا» إلى «تم الحجز» في رحلة واحدة شفافة.</a:t>
            </a:r>
            <a:endParaRPr lang="ar-SA" sz="1300" dirty="0"/>
          </a:p>
        </p:txBody>
      </p:sp>
      <p:sp>
        <p:nvSpPr>
          <p:cNvPr id="36" name="Text 27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7 / 17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4A7AE2"/>
                </a:solidFill>
                <a:latin typeface="DIN Next LT Arabic"/>
                <a:cs typeface="DIN Next LT Arabic"/>
              </a:rPr>
              <a:t>الانضمام إلى المنصة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4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رحلة التسجيل الفعلية في سيفنت</a:t>
            </a:r>
          </a:p>
        </p:txBody>
      </p:sp>
      <p:sp>
        <p:nvSpPr>
          <p:cNvPr id="61" name="Text 4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9 / 17</a:t>
            </a:r>
            <a:endParaRPr lang="en-US" sz="900" dirty="0"/>
          </a:p>
        </p:txBody>
      </p:sp>
      <p:sp>
        <p:nvSpPr>
          <p:cNvPr id="62" name="Text 4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  <p:sp>
        <p:nvSpPr>
          <p:cNvPr id="100" name="OrgHeader"/>
          <p:cNvSpPr/>
          <p:nvPr/>
        </p:nvSpPr>
        <p:spPr>
          <a:xfrm>
            <a:off x="4699000" y="1524000"/>
            <a:ext cx="4064000" cy="381000"/>
          </a:xfrm>
          <a:prstGeom prst="roundRect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 rtl="1">
              <a:buNone/>
            </a:pPr>
            <a:r>
              <a:rPr lang="ar-SA" sz="1400" b="1" dirty="0">
                <a:solidFill>
                  <a:srgbClr val="FFFFFF"/>
                </a:solidFill>
                <a:latin typeface="DIN Next LT Arabic"/>
                <a:cs typeface="DIN Next LT Arabic"/>
              </a:rPr>
              <a:t>رحلة المنظّم</a:t>
            </a:r>
          </a:p>
        </p:txBody>
      </p:sp>
      <p:sp>
        <p:nvSpPr>
          <p:cNvPr id="101" name="SupHeader"/>
          <p:cNvSpPr/>
          <p:nvPr/>
        </p:nvSpPr>
        <p:spPr>
          <a:xfrm>
            <a:off x="381000" y="1524000"/>
            <a:ext cx="4064000" cy="381000"/>
          </a:xfrm>
          <a:prstGeom prst="roundRect">
            <a:avLst/>
          </a:prstGeom>
          <a:solidFill>
            <a:srgbClr val="0F1B3D"/>
          </a:solidFill>
          <a:ln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 rtl="1">
              <a:buNone/>
            </a:pPr>
            <a:r>
              <a:rPr lang="ar-SA" sz="1400" b="1" dirty="0">
                <a:solidFill>
                  <a:srgbClr val="FFFFFF"/>
                </a:solidFill>
                <a:latin typeface="DIN Next LT Arabic"/>
                <a:cs typeface="DIN Next LT Arabic"/>
              </a:rPr>
              <a:t>رحلة المورّد</a:t>
            </a:r>
          </a:p>
        </p:txBody>
      </p:sp>
      <p:sp>
        <p:nvSpPr>
          <p:cNvPr id="102" name="OrgLine"/>
          <p:cNvSpPr/>
          <p:nvPr/>
        </p:nvSpPr>
        <p:spPr>
          <a:xfrm>
            <a:off x="8423275" y="2260600"/>
            <a:ext cx="19050" cy="2286000"/>
          </a:xfrm>
          <a:prstGeom prst="rect">
            <a:avLst/>
          </a:prstGeom>
          <a:solidFill>
            <a:srgbClr val="DBE4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OrgBadge1"/>
          <p:cNvSpPr/>
          <p:nvPr/>
        </p:nvSpPr>
        <p:spPr>
          <a:xfrm>
            <a:off x="8267700" y="2095500"/>
            <a:ext cx="330200" cy="330200"/>
          </a:xfrm>
          <a:prstGeom prst="ellipse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1</a:t>
            </a:r>
          </a:p>
        </p:txBody>
      </p:sp>
      <p:sp>
        <p:nvSpPr>
          <p:cNvPr id="104" name="OrgTitle1"/>
          <p:cNvSpPr/>
          <p:nvPr/>
        </p:nvSpPr>
        <p:spPr>
          <a:xfrm>
            <a:off x="4724400" y="20574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 fontScale="92500" lnSpcReduction="10000"/>
          </a:bodyPr>
          <a:lstStyle/>
          <a:p>
            <a:pPr algn="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فتح صفحة التسجيل</a:t>
            </a:r>
          </a:p>
        </p:txBody>
      </p:sp>
      <p:sp>
        <p:nvSpPr>
          <p:cNvPr id="105" name="OrgDesc1"/>
          <p:cNvSpPr/>
          <p:nvPr/>
        </p:nvSpPr>
        <p:spPr>
          <a:xfrm>
            <a:off x="4724400" y="22606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/>
          </a:bodyPr>
          <a:lstStyle/>
          <a:p>
            <a:pPr algn="r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الدخول إلى /sign-up مع تفعيل دور المنظّم افتراضياً</a:t>
            </a:r>
          </a:p>
        </p:txBody>
      </p:sp>
      <p:sp>
        <p:nvSpPr>
          <p:cNvPr id="106" name="OrgBadge2"/>
          <p:cNvSpPr/>
          <p:nvPr/>
        </p:nvSpPr>
        <p:spPr>
          <a:xfrm>
            <a:off x="8267700" y="2552700"/>
            <a:ext cx="330200" cy="330200"/>
          </a:xfrm>
          <a:prstGeom prst="ellipse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2</a:t>
            </a:r>
          </a:p>
        </p:txBody>
      </p:sp>
      <p:sp>
        <p:nvSpPr>
          <p:cNvPr id="107" name="OrgTitle2"/>
          <p:cNvSpPr/>
          <p:nvPr/>
        </p:nvSpPr>
        <p:spPr>
          <a:xfrm>
            <a:off x="4724400" y="25146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 fontScale="92500" lnSpcReduction="10000"/>
          </a:bodyPr>
          <a:lstStyle/>
          <a:p>
            <a:pPr algn="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تعبئة بيانات الحساب</a:t>
            </a:r>
          </a:p>
        </p:txBody>
      </p:sp>
      <p:sp>
        <p:nvSpPr>
          <p:cNvPr id="108" name="OrgDesc2"/>
          <p:cNvSpPr/>
          <p:nvPr/>
        </p:nvSpPr>
        <p:spPr>
          <a:xfrm>
            <a:off x="4724400" y="27178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/>
          </a:bodyPr>
          <a:lstStyle/>
          <a:p>
            <a:pPr algn="r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الاسم الكامل، البريد، الجوال +٩٦٦، كلمة المرور</a:t>
            </a:r>
          </a:p>
        </p:txBody>
      </p:sp>
      <p:sp>
        <p:nvSpPr>
          <p:cNvPr id="109" name="OrgBadge3"/>
          <p:cNvSpPr/>
          <p:nvPr/>
        </p:nvSpPr>
        <p:spPr>
          <a:xfrm>
            <a:off x="8267700" y="3009900"/>
            <a:ext cx="330200" cy="330200"/>
          </a:xfrm>
          <a:prstGeom prst="ellipse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3</a:t>
            </a:r>
          </a:p>
        </p:txBody>
      </p:sp>
      <p:sp>
        <p:nvSpPr>
          <p:cNvPr id="110" name="OrgTitle3"/>
          <p:cNvSpPr/>
          <p:nvPr/>
        </p:nvSpPr>
        <p:spPr>
          <a:xfrm>
            <a:off x="4724400" y="29718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 fontScale="92500" lnSpcReduction="10000"/>
          </a:bodyPr>
          <a:lstStyle/>
          <a:p>
            <a:pPr algn="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إنشاء الحساب</a:t>
            </a:r>
          </a:p>
        </p:txBody>
      </p:sp>
      <p:sp>
        <p:nvSpPr>
          <p:cNvPr id="111" name="OrgDesc3"/>
          <p:cNvSpPr/>
          <p:nvPr/>
        </p:nvSpPr>
        <p:spPr>
          <a:xfrm>
            <a:off x="4724400" y="31750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/>
          </a:bodyPr>
          <a:lstStyle/>
          <a:p>
            <a:pPr algn="r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signUpAction ينشئ حساب Supabase بدور organizer</a:t>
            </a:r>
          </a:p>
        </p:txBody>
      </p:sp>
      <p:sp>
        <p:nvSpPr>
          <p:cNvPr id="112" name="OrgBadge4"/>
          <p:cNvSpPr/>
          <p:nvPr/>
        </p:nvSpPr>
        <p:spPr>
          <a:xfrm>
            <a:off x="8267700" y="3467100"/>
            <a:ext cx="330200" cy="330200"/>
          </a:xfrm>
          <a:prstGeom prst="ellipse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4</a:t>
            </a:r>
          </a:p>
        </p:txBody>
      </p:sp>
      <p:sp>
        <p:nvSpPr>
          <p:cNvPr id="113" name="OrgTitle4"/>
          <p:cNvSpPr/>
          <p:nvPr/>
        </p:nvSpPr>
        <p:spPr>
          <a:xfrm>
            <a:off x="4724400" y="34290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 fontScale="92500" lnSpcReduction="10000"/>
          </a:bodyPr>
          <a:lstStyle/>
          <a:p>
            <a:pPr algn="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تأكيد البريد الإلكتروني</a:t>
            </a:r>
          </a:p>
        </p:txBody>
      </p:sp>
      <p:sp>
        <p:nvSpPr>
          <p:cNvPr id="114" name="OrgDesc4"/>
          <p:cNvSpPr/>
          <p:nvPr/>
        </p:nvSpPr>
        <p:spPr>
          <a:xfrm>
            <a:off x="4724400" y="36322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/>
          </a:bodyPr>
          <a:lstStyle/>
          <a:p>
            <a:pPr algn="r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رابط التحقّق يفتح /auth/callback ويُنشئ الجلسة</a:t>
            </a:r>
          </a:p>
        </p:txBody>
      </p:sp>
      <p:sp>
        <p:nvSpPr>
          <p:cNvPr id="115" name="OrgBadge5"/>
          <p:cNvSpPr/>
          <p:nvPr/>
        </p:nvSpPr>
        <p:spPr>
          <a:xfrm>
            <a:off x="8267700" y="3924300"/>
            <a:ext cx="330200" cy="330200"/>
          </a:xfrm>
          <a:prstGeom prst="ellipse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5</a:t>
            </a:r>
          </a:p>
        </p:txBody>
      </p:sp>
      <p:sp>
        <p:nvSpPr>
          <p:cNvPr id="116" name="OrgTitle5"/>
          <p:cNvSpPr/>
          <p:nvPr/>
        </p:nvSpPr>
        <p:spPr>
          <a:xfrm>
            <a:off x="4724400" y="38862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 fontScale="92500" lnSpcReduction="10000"/>
          </a:bodyPr>
          <a:lstStyle/>
          <a:p>
            <a:pPr algn="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التوجيه إلى لوحة التحكم</a:t>
            </a:r>
          </a:p>
        </p:txBody>
      </p:sp>
      <p:sp>
        <p:nvSpPr>
          <p:cNvPr id="117" name="OrgDesc5"/>
          <p:cNvSpPr/>
          <p:nvPr/>
        </p:nvSpPr>
        <p:spPr>
          <a:xfrm>
            <a:off x="4724400" y="40894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/>
          </a:bodyPr>
          <a:lstStyle/>
          <a:p>
            <a:pPr algn="r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قراءة الدور وإعادة التوجيه إلى /organizer/dashboard</a:t>
            </a:r>
          </a:p>
        </p:txBody>
      </p:sp>
      <p:sp>
        <p:nvSpPr>
          <p:cNvPr id="118" name="OrgBadge6"/>
          <p:cNvSpPr/>
          <p:nvPr/>
        </p:nvSpPr>
        <p:spPr>
          <a:xfrm>
            <a:off x="8267700" y="4381500"/>
            <a:ext cx="330200" cy="330200"/>
          </a:xfrm>
          <a:prstGeom prst="ellipse">
            <a:avLst/>
          </a:prstGeom>
          <a:solidFill>
            <a:srgbClr val="4A7AE2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6</a:t>
            </a:r>
          </a:p>
        </p:txBody>
      </p:sp>
      <p:sp>
        <p:nvSpPr>
          <p:cNvPr id="119" name="OrgTitle6"/>
          <p:cNvSpPr/>
          <p:nvPr/>
        </p:nvSpPr>
        <p:spPr>
          <a:xfrm>
            <a:off x="4724400" y="43434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 fontScale="92500" lnSpcReduction="10000"/>
          </a:bodyPr>
          <a:lstStyle/>
          <a:p>
            <a:pPr algn="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الوصول الكامل</a:t>
            </a:r>
          </a:p>
        </p:txBody>
      </p:sp>
      <p:sp>
        <p:nvSpPr>
          <p:cNvPr id="120" name="OrgDesc6"/>
          <p:cNvSpPr/>
          <p:nvPr/>
        </p:nvSpPr>
        <p:spPr>
          <a:xfrm>
            <a:off x="4724400" y="45466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76200" bIns="25400" anchor="ctr">
            <a:normAutofit/>
          </a:bodyPr>
          <a:lstStyle/>
          <a:p>
            <a:pPr algn="r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حالة organizer.active، فعاليات، طلبات، حجوزات، رسائل</a:t>
            </a:r>
          </a:p>
        </p:txBody>
      </p:sp>
      <p:sp>
        <p:nvSpPr>
          <p:cNvPr id="121" name="SupLine"/>
          <p:cNvSpPr/>
          <p:nvPr/>
        </p:nvSpPr>
        <p:spPr>
          <a:xfrm>
            <a:off x="701675" y="2260600"/>
            <a:ext cx="19050" cy="2286000"/>
          </a:xfrm>
          <a:prstGeom prst="rect">
            <a:avLst/>
          </a:prstGeom>
          <a:solidFill>
            <a:srgbClr val="C9CE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SupBadge1"/>
          <p:cNvSpPr/>
          <p:nvPr/>
        </p:nvSpPr>
        <p:spPr>
          <a:xfrm>
            <a:off x="546100" y="2095500"/>
            <a:ext cx="330200" cy="330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1</a:t>
            </a:r>
          </a:p>
        </p:txBody>
      </p:sp>
      <p:sp>
        <p:nvSpPr>
          <p:cNvPr id="123" name="SupTitle1"/>
          <p:cNvSpPr/>
          <p:nvPr/>
        </p:nvSpPr>
        <p:spPr>
          <a:xfrm>
            <a:off x="927100" y="20574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 fontScale="92500" lnSpcReduction="10000"/>
          </a:bodyPr>
          <a:lstStyle/>
          <a:p>
            <a:pPr algn="l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إنشاء حساب المورّد</a:t>
            </a:r>
          </a:p>
        </p:txBody>
      </p:sp>
      <p:sp>
        <p:nvSpPr>
          <p:cNvPr id="124" name="SupDesc1"/>
          <p:cNvSpPr/>
          <p:nvPr/>
        </p:nvSpPr>
        <p:spPr>
          <a:xfrm>
            <a:off x="927100" y="22606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/>
          </a:bodyPr>
          <a:lstStyle/>
          <a:p>
            <a:pPr algn="l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/sign-up?role=supplier مع الموافقة على الشروط</a:t>
            </a:r>
          </a:p>
        </p:txBody>
      </p:sp>
      <p:sp>
        <p:nvSpPr>
          <p:cNvPr id="125" name="SupBadge2"/>
          <p:cNvSpPr/>
          <p:nvPr/>
        </p:nvSpPr>
        <p:spPr>
          <a:xfrm>
            <a:off x="546100" y="2552700"/>
            <a:ext cx="330200" cy="330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2</a:t>
            </a:r>
          </a:p>
        </p:txBody>
      </p:sp>
      <p:sp>
        <p:nvSpPr>
          <p:cNvPr id="126" name="SupTitle2"/>
          <p:cNvSpPr/>
          <p:nvPr/>
        </p:nvSpPr>
        <p:spPr>
          <a:xfrm>
            <a:off x="927100" y="25146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 fontScale="92500" lnSpcReduction="10000"/>
          </a:bodyPr>
          <a:lstStyle/>
          <a:p>
            <a:pPr algn="l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اختيار نوع النشاط</a:t>
            </a:r>
          </a:p>
        </p:txBody>
      </p:sp>
      <p:sp>
        <p:nvSpPr>
          <p:cNvPr id="127" name="SupDesc2"/>
          <p:cNvSpPr/>
          <p:nvPr/>
        </p:nvSpPr>
        <p:spPr>
          <a:xfrm>
            <a:off x="927100" y="27178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/>
          </a:bodyPr>
          <a:lstStyle/>
          <a:p>
            <a:pPr algn="l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مستقل أو شركة، يحدّد المستندات المطلوبة لاحقاً</a:t>
            </a:r>
          </a:p>
        </p:txBody>
      </p:sp>
      <p:sp>
        <p:nvSpPr>
          <p:cNvPr id="128" name="SupBadge3"/>
          <p:cNvSpPr/>
          <p:nvPr/>
        </p:nvSpPr>
        <p:spPr>
          <a:xfrm>
            <a:off x="546100" y="3009900"/>
            <a:ext cx="330200" cy="330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3</a:t>
            </a:r>
          </a:p>
        </p:txBody>
      </p:sp>
      <p:sp>
        <p:nvSpPr>
          <p:cNvPr id="129" name="SupTitle3"/>
          <p:cNvSpPr/>
          <p:nvPr/>
        </p:nvSpPr>
        <p:spPr>
          <a:xfrm>
            <a:off x="927100" y="29718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 fontScale="92500" lnSpcReduction="10000"/>
          </a:bodyPr>
          <a:lstStyle/>
          <a:p>
            <a:pPr algn="l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بيانات النشاط التجاري</a:t>
            </a:r>
          </a:p>
        </p:txBody>
      </p:sp>
      <p:sp>
        <p:nvSpPr>
          <p:cNvPr id="130" name="SupDesc3"/>
          <p:cNvSpPr/>
          <p:nvPr/>
        </p:nvSpPr>
        <p:spPr>
          <a:xfrm>
            <a:off x="927100" y="31750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/>
          </a:bodyPr>
          <a:lstStyle/>
          <a:p>
            <a:pPr algn="l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اسم الممثّل، النشاط، المدينة، السجل أو الهوية</a:t>
            </a:r>
          </a:p>
        </p:txBody>
      </p:sp>
      <p:sp>
        <p:nvSpPr>
          <p:cNvPr id="131" name="SupBadge4"/>
          <p:cNvSpPr/>
          <p:nvPr/>
        </p:nvSpPr>
        <p:spPr>
          <a:xfrm>
            <a:off x="546100" y="3467100"/>
            <a:ext cx="330200" cy="330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4</a:t>
            </a:r>
          </a:p>
        </p:txBody>
      </p:sp>
      <p:sp>
        <p:nvSpPr>
          <p:cNvPr id="132" name="SupTitle4"/>
          <p:cNvSpPr/>
          <p:nvPr/>
        </p:nvSpPr>
        <p:spPr>
          <a:xfrm>
            <a:off x="927100" y="34290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 fontScale="92500" lnSpcReduction="10000"/>
          </a:bodyPr>
          <a:lstStyle/>
          <a:p>
            <a:pPr algn="l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الفئات والشرائح المستهدفة</a:t>
            </a:r>
          </a:p>
        </p:txBody>
      </p:sp>
      <p:sp>
        <p:nvSpPr>
          <p:cNvPr id="133" name="SupDesc4"/>
          <p:cNvSpPr/>
          <p:nvPr/>
        </p:nvSpPr>
        <p:spPr>
          <a:xfrm>
            <a:off x="927100" y="36322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/>
          </a:bodyPr>
          <a:lstStyle/>
          <a:p>
            <a:pPr algn="l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اختيار التصنيفات الفرعية وشرائح السوق</a:t>
            </a:r>
          </a:p>
        </p:txBody>
      </p:sp>
      <p:sp>
        <p:nvSpPr>
          <p:cNvPr id="134" name="SupBadge5"/>
          <p:cNvSpPr/>
          <p:nvPr/>
        </p:nvSpPr>
        <p:spPr>
          <a:xfrm>
            <a:off x="546100" y="3924300"/>
            <a:ext cx="330200" cy="330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5</a:t>
            </a:r>
          </a:p>
        </p:txBody>
      </p:sp>
      <p:sp>
        <p:nvSpPr>
          <p:cNvPr id="135" name="SupTitle5"/>
          <p:cNvSpPr/>
          <p:nvPr/>
        </p:nvSpPr>
        <p:spPr>
          <a:xfrm>
            <a:off x="927100" y="38862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 fontScale="92500" lnSpcReduction="10000"/>
          </a:bodyPr>
          <a:lstStyle/>
          <a:p>
            <a:pPr algn="l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رفع المستندات والإرسال</a:t>
            </a:r>
          </a:p>
        </p:txBody>
      </p:sp>
      <p:sp>
        <p:nvSpPr>
          <p:cNvPr id="136" name="SupDesc5"/>
          <p:cNvSpPr/>
          <p:nvPr/>
        </p:nvSpPr>
        <p:spPr>
          <a:xfrm>
            <a:off x="927100" y="40894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/>
          </a:bodyPr>
          <a:lstStyle/>
          <a:p>
            <a:pPr algn="l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الشعار، الآيبان، الملف التعريفي، pending_review</a:t>
            </a:r>
          </a:p>
        </p:txBody>
      </p:sp>
      <p:sp>
        <p:nvSpPr>
          <p:cNvPr id="137" name="SupBadge6"/>
          <p:cNvSpPr/>
          <p:nvPr/>
        </p:nvSpPr>
        <p:spPr>
          <a:xfrm>
            <a:off x="546100" y="4381500"/>
            <a:ext cx="330200" cy="330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50800" tIns="25400" rIns="50800" bIns="25400" anchor="ctr">
            <a:normAutofit lnSpcReduction="1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DIN Next LT Arabic"/>
                <a:cs typeface="DIN Next LT Arabic"/>
              </a:rPr>
              <a:t>✓</a:t>
            </a:r>
          </a:p>
        </p:txBody>
      </p:sp>
      <p:sp>
        <p:nvSpPr>
          <p:cNvPr id="138" name="SupTitle6"/>
          <p:cNvSpPr/>
          <p:nvPr/>
        </p:nvSpPr>
        <p:spPr>
          <a:xfrm>
            <a:off x="927100" y="43434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 fontScale="92500" lnSpcReduction="10000"/>
          </a:bodyPr>
          <a:lstStyle/>
          <a:p>
            <a:pPr algn="l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/>
                <a:cs typeface="DIN Next LT Arabic"/>
              </a:rPr>
              <a:t>مراجعة الإدارة</a:t>
            </a:r>
          </a:p>
        </p:txBody>
      </p:sp>
      <p:sp>
        <p:nvSpPr>
          <p:cNvPr id="139" name="SupDesc6"/>
          <p:cNvSpPr/>
          <p:nvPr/>
        </p:nvSpPr>
        <p:spPr>
          <a:xfrm>
            <a:off x="927100" y="4546600"/>
            <a:ext cx="3492500" cy="203200"/>
          </a:xfrm>
          <a:prstGeom prst="rect">
            <a:avLst/>
          </a:prstGeom>
          <a:noFill/>
          <a:ln>
            <a:noFill/>
          </a:ln>
        </p:spPr>
        <p:txBody>
          <a:bodyPr wrap="square" lIns="76200" tIns="25400" rIns="25400" bIns="25400" anchor="ctr">
            <a:normAutofit/>
          </a:bodyPr>
          <a:lstStyle/>
          <a:p>
            <a:pPr algn="l" rtl="1">
              <a:buNone/>
            </a:pPr>
            <a:r>
              <a:rPr lang="ar-SA" sz="1000" dirty="0">
                <a:solidFill>
                  <a:srgbClr val="4B5563"/>
                </a:solidFill>
                <a:latin typeface="DIN Next LT Arabic"/>
                <a:cs typeface="DIN Next LT Arabic"/>
              </a:rPr>
              <a:t>approved → وصول كامل، أو rejected → تعديل وإعادة الإرسال</a:t>
            </a:r>
          </a:p>
        </p:txBody>
      </p:sp>
    </p:spTree>
    <p:extLst>
      <p:ext uri="{BB962C8B-B14F-4D97-AF65-F5344CB8AC3E}">
        <p14:creationId xmlns:p14="http://schemas.microsoft.com/office/powerpoint/2010/main" val="18223148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‏رحلة المنظّم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‏تجربة منظّم الفعالية من الألف إلى الياء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757416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56448" y="1481328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56448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5152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44184" y="1481328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44184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32888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31920" y="1481328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19656" y="1481328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19656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01284" y="3493008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00316" y="3346704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00316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89020" y="3493008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8052" y="3346704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8052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76756" y="3493008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75788" y="3346704"/>
            <a:ext cx="457200" cy="45720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75788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7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76856"/>
            <a:ext cx="182880" cy="18288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76856"/>
            <a:ext cx="182880" cy="18288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2276856"/>
            <a:ext cx="182880" cy="18288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692" y="4142232"/>
            <a:ext cx="182880" cy="182880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4142232"/>
            <a:ext cx="182880" cy="1828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403604" y="3063240"/>
            <a:ext cx="91" cy="274320"/>
          </a:xfrm>
          <a:prstGeom prst="line">
            <a:avLst/>
          </a:prstGeom>
          <a:noFill/>
          <a:ln w="25400">
            <a:solidFill>
              <a:srgbClr val="4A7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403604" y="3410712"/>
            <a:ext cx="5280660" cy="91"/>
          </a:xfrm>
          <a:prstGeom prst="line">
            <a:avLst/>
          </a:prstGeom>
          <a:noFill/>
          <a:ln w="25400">
            <a:solidFill>
              <a:srgbClr val="4A7A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561109" y="3392690"/>
            <a:ext cx="182880" cy="182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456932" y="1773936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995" y="1909999"/>
            <a:ext cx="294803" cy="29480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67144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‏إنشاء الفعالية</a:t>
            </a:r>
            <a:endParaRPr lang="ar-SA" sz="1200" dirty="0"/>
          </a:p>
        </p:txBody>
      </p:sp>
      <p:sp>
        <p:nvSpPr>
          <p:cNvPr id="36" name="Text 27"/>
          <p:cNvSpPr/>
          <p:nvPr/>
        </p:nvSpPr>
        <p:spPr>
          <a:xfrm>
            <a:off x="6867144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‏النوع، المدينة، التواريخ، والميزانية.</a:t>
            </a:r>
            <a:endParaRPr lang="ar-SA" sz="850" dirty="0"/>
          </a:p>
        </p:txBody>
      </p:sp>
      <p:sp>
        <p:nvSpPr>
          <p:cNvPr id="37" name="Shape 28"/>
          <p:cNvSpPr/>
          <p:nvPr/>
        </p:nvSpPr>
        <p:spPr>
          <a:xfrm>
            <a:off x="5344668" y="1773936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731" y="1909999"/>
            <a:ext cx="294803" cy="29480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0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‏إنشاء طلب عرض</a:t>
            </a:r>
            <a:r>
              <a:rPr lang="ar-JO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سعر</a:t>
            </a:r>
            <a:endParaRPr lang="ar-SA" sz="1200" dirty="0"/>
          </a:p>
        </p:txBody>
      </p:sp>
      <p:sp>
        <p:nvSpPr>
          <p:cNvPr id="40" name="Text 30"/>
          <p:cNvSpPr/>
          <p:nvPr/>
        </p:nvSpPr>
        <p:spPr>
          <a:xfrm>
            <a:off x="4754880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‏وصف الخدمة المطلوبة لكل </a:t>
            </a:r>
            <a:r>
              <a:rPr lang="ar-JO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بند</a:t>
            </a: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.</a:t>
            </a:r>
            <a:endParaRPr lang="ar-SA" sz="850" dirty="0"/>
          </a:p>
        </p:txBody>
      </p:sp>
      <p:sp>
        <p:nvSpPr>
          <p:cNvPr id="41" name="Shape 31"/>
          <p:cNvSpPr/>
          <p:nvPr/>
        </p:nvSpPr>
        <p:spPr>
          <a:xfrm>
            <a:off x="3232404" y="1773936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467" y="1909999"/>
            <a:ext cx="294803" cy="29480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2642616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‏دعوة الموردين</a:t>
            </a:r>
            <a:endParaRPr lang="ar-SA" sz="1200" dirty="0"/>
          </a:p>
        </p:txBody>
      </p:sp>
      <p:sp>
        <p:nvSpPr>
          <p:cNvPr id="44" name="Text 33"/>
          <p:cNvSpPr/>
          <p:nvPr/>
        </p:nvSpPr>
        <p:spPr>
          <a:xfrm>
            <a:off x="2642616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‏دعوة موردين بعينهم أو مطابقة عبر المنصة.</a:t>
            </a:r>
            <a:endParaRPr lang="ar-SA" sz="850" dirty="0"/>
          </a:p>
        </p:txBody>
      </p:sp>
      <p:sp>
        <p:nvSpPr>
          <p:cNvPr id="45" name="Shape 34"/>
          <p:cNvSpPr/>
          <p:nvPr/>
        </p:nvSpPr>
        <p:spPr>
          <a:xfrm>
            <a:off x="1120140" y="1773936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203" y="1909999"/>
            <a:ext cx="294803" cy="294803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30352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‏استقبال العروض</a:t>
            </a:r>
            <a:endParaRPr lang="ar-SA" sz="1200" dirty="0"/>
          </a:p>
        </p:txBody>
      </p:sp>
      <p:sp>
        <p:nvSpPr>
          <p:cNvPr id="48" name="Text 36"/>
          <p:cNvSpPr/>
          <p:nvPr/>
        </p:nvSpPr>
        <p:spPr>
          <a:xfrm>
            <a:off x="530352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‏الموردون يقدّمون عروضهم التنافسية.</a:t>
            </a:r>
            <a:endParaRPr lang="ar-SA" sz="850" dirty="0"/>
          </a:p>
        </p:txBody>
      </p:sp>
      <p:sp>
        <p:nvSpPr>
          <p:cNvPr id="49" name="Shape 37"/>
          <p:cNvSpPr/>
          <p:nvPr/>
        </p:nvSpPr>
        <p:spPr>
          <a:xfrm>
            <a:off x="6400800" y="3639312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863" y="3775375"/>
            <a:ext cx="294803" cy="294803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811012" y="4242816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‏المقارنة والاختيار</a:t>
            </a:r>
            <a:endParaRPr lang="ar-SA" sz="1200" dirty="0"/>
          </a:p>
        </p:txBody>
      </p:sp>
      <p:sp>
        <p:nvSpPr>
          <p:cNvPr id="52" name="Text 39"/>
          <p:cNvSpPr/>
          <p:nvPr/>
        </p:nvSpPr>
        <p:spPr>
          <a:xfrm>
            <a:off x="5811012" y="455371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‏سعر ونطاق وتقييم في عرض موحّد.</a:t>
            </a:r>
            <a:endParaRPr lang="ar-SA" sz="850" dirty="0"/>
          </a:p>
        </p:txBody>
      </p:sp>
      <p:sp>
        <p:nvSpPr>
          <p:cNvPr id="53" name="Shape 40"/>
          <p:cNvSpPr/>
          <p:nvPr/>
        </p:nvSpPr>
        <p:spPr>
          <a:xfrm>
            <a:off x="4288536" y="3639312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4599" y="3775375"/>
            <a:ext cx="294803" cy="294803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3698748" y="4242816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‏الحجز والتأكيد</a:t>
            </a:r>
            <a:endParaRPr lang="ar-SA" sz="1200" dirty="0"/>
          </a:p>
        </p:txBody>
      </p:sp>
      <p:sp>
        <p:nvSpPr>
          <p:cNvPr id="56" name="Text 42"/>
          <p:cNvSpPr/>
          <p:nvPr/>
        </p:nvSpPr>
        <p:spPr>
          <a:xfrm>
            <a:off x="3698748" y="455371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‏قبول العرض يُنشئ حجزًا يؤكّده المورّد.</a:t>
            </a:r>
            <a:endParaRPr lang="ar-SA" sz="850" dirty="0"/>
          </a:p>
        </p:txBody>
      </p:sp>
      <p:sp>
        <p:nvSpPr>
          <p:cNvPr id="57" name="Shape 43"/>
          <p:cNvSpPr/>
          <p:nvPr/>
        </p:nvSpPr>
        <p:spPr>
          <a:xfrm>
            <a:off x="2176272" y="3639312"/>
            <a:ext cx="566928" cy="566928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2335" y="3775375"/>
            <a:ext cx="294803" cy="294803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1586484" y="4242816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‏التنفيذ والتقييم</a:t>
            </a:r>
            <a:endParaRPr lang="ar-SA" sz="1200" dirty="0"/>
          </a:p>
        </p:txBody>
      </p:sp>
      <p:sp>
        <p:nvSpPr>
          <p:cNvPr id="60" name="Text 45"/>
          <p:cNvSpPr/>
          <p:nvPr/>
        </p:nvSpPr>
        <p:spPr>
          <a:xfrm>
            <a:off x="1586484" y="455371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‏تنفيذ الفعالية ثم تقييم متبادل موثّق.</a:t>
            </a:r>
            <a:endParaRPr lang="ar-SA" sz="850" dirty="0"/>
          </a:p>
        </p:txBody>
      </p:sp>
      <p:sp>
        <p:nvSpPr>
          <p:cNvPr id="61" name="Text 4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9 / 17</a:t>
            </a:r>
            <a:endParaRPr lang="en-US" sz="900" dirty="0"/>
          </a:p>
        </p:txBody>
      </p:sp>
      <p:sp>
        <p:nvSpPr>
          <p:cNvPr id="62" name="Text 4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3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3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9" dur="3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3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8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0" dur="3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3" dur="3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3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3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5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9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3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4" dur="3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3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3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‏رحلة المورّد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‏تجربة المورّد من الألف إلى الياء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757416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56448" y="1481328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56448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5152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44184" y="1481328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44184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32888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31920" y="1481328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" y="1627632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19656" y="1481328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19656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01284" y="3493008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00316" y="3346704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00316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89020" y="3493008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88052" y="3346704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8052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76756" y="3493008"/>
            <a:ext cx="19659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75788" y="3346704"/>
            <a:ext cx="457200" cy="457200"/>
          </a:xfrm>
          <a:prstGeom prst="ellipse">
            <a:avLst/>
          </a:prstGeom>
          <a:solidFill>
            <a:srgbClr val="0F1B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75788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7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276856"/>
            <a:ext cx="182880" cy="18288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76856"/>
            <a:ext cx="182880" cy="18288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2276856"/>
            <a:ext cx="182880" cy="182880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692" y="4142232"/>
            <a:ext cx="182880" cy="182880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428" y="4142232"/>
            <a:ext cx="182880" cy="18288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403604" y="3063240"/>
            <a:ext cx="91" cy="274320"/>
          </a:xfrm>
          <a:prstGeom prst="line">
            <a:avLst/>
          </a:prstGeom>
          <a:noFill/>
          <a:ln w="25400">
            <a:solidFill>
              <a:srgbClr val="0F1B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403604" y="3410712"/>
            <a:ext cx="5280660" cy="91"/>
          </a:xfrm>
          <a:prstGeom prst="line">
            <a:avLst/>
          </a:prstGeom>
          <a:noFill/>
          <a:ln w="25400">
            <a:solidFill>
              <a:srgbClr val="0F1B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556248" y="3392424"/>
            <a:ext cx="182880" cy="182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456932" y="1773936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995" y="1909999"/>
            <a:ext cx="294803" cy="29480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67144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‏التسجيل</a:t>
            </a:r>
            <a:endParaRPr lang="ar-SA" sz="1200" dirty="0"/>
          </a:p>
        </p:txBody>
      </p:sp>
      <p:sp>
        <p:nvSpPr>
          <p:cNvPr id="36" name="Text 27"/>
          <p:cNvSpPr/>
          <p:nvPr/>
        </p:nvSpPr>
        <p:spPr>
          <a:xfrm>
            <a:off x="6867144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‏إنشاء حساب واختيار نوع النشاط: مستقل أو شركة.</a:t>
            </a:r>
            <a:endParaRPr lang="ar-SA" sz="850" dirty="0"/>
          </a:p>
        </p:txBody>
      </p:sp>
      <p:sp>
        <p:nvSpPr>
          <p:cNvPr id="37" name="Shape 28"/>
          <p:cNvSpPr/>
          <p:nvPr/>
        </p:nvSpPr>
        <p:spPr>
          <a:xfrm>
            <a:off x="5344668" y="1773936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731" y="1909999"/>
            <a:ext cx="294803" cy="29480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54880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‏رفع المستندات</a:t>
            </a:r>
            <a:endParaRPr lang="ar-SA" sz="1200" dirty="0"/>
          </a:p>
        </p:txBody>
      </p:sp>
      <p:sp>
        <p:nvSpPr>
          <p:cNvPr id="40" name="Text 30"/>
          <p:cNvSpPr/>
          <p:nvPr/>
        </p:nvSpPr>
        <p:spPr>
          <a:xfrm>
            <a:off x="4754880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‏سجل تجاري، ضريبة، حساب بنكي، ملف الشركة.</a:t>
            </a:r>
            <a:endParaRPr lang="ar-SA" sz="850" dirty="0"/>
          </a:p>
        </p:txBody>
      </p:sp>
      <p:sp>
        <p:nvSpPr>
          <p:cNvPr id="41" name="Shape 31"/>
          <p:cNvSpPr/>
          <p:nvPr/>
        </p:nvSpPr>
        <p:spPr>
          <a:xfrm>
            <a:off x="3232404" y="1773936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467" y="1909999"/>
            <a:ext cx="294803" cy="29480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2642616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‏التحقق والاعتماد</a:t>
            </a:r>
            <a:endParaRPr lang="ar-SA" sz="1200" dirty="0"/>
          </a:p>
        </p:txBody>
      </p:sp>
      <p:sp>
        <p:nvSpPr>
          <p:cNvPr id="44" name="Text 33"/>
          <p:cNvSpPr/>
          <p:nvPr/>
        </p:nvSpPr>
        <p:spPr>
          <a:xfrm>
            <a:off x="2642616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‏مراجعة فريق سيفنت ومنح شارة التحقق.</a:t>
            </a:r>
            <a:endParaRPr lang="ar-SA" sz="850" dirty="0"/>
          </a:p>
        </p:txBody>
      </p:sp>
      <p:sp>
        <p:nvSpPr>
          <p:cNvPr id="45" name="Shape 34"/>
          <p:cNvSpPr/>
          <p:nvPr/>
        </p:nvSpPr>
        <p:spPr>
          <a:xfrm>
            <a:off x="1120140" y="1773936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203" y="1909999"/>
            <a:ext cx="294803" cy="294803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30352" y="237744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‏بناء الملف والكتالوج</a:t>
            </a:r>
            <a:endParaRPr lang="ar-SA" sz="1200" dirty="0"/>
          </a:p>
        </p:txBody>
      </p:sp>
      <p:sp>
        <p:nvSpPr>
          <p:cNvPr id="48" name="Text 36"/>
          <p:cNvSpPr/>
          <p:nvPr/>
        </p:nvSpPr>
        <p:spPr>
          <a:xfrm>
            <a:off x="530352" y="268833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‏خدمات، باقات، أسعار، معرض أعمال.</a:t>
            </a:r>
            <a:endParaRPr lang="ar-SA" sz="850" dirty="0"/>
          </a:p>
        </p:txBody>
      </p:sp>
      <p:sp>
        <p:nvSpPr>
          <p:cNvPr id="49" name="Shape 37"/>
          <p:cNvSpPr/>
          <p:nvPr/>
        </p:nvSpPr>
        <p:spPr>
          <a:xfrm>
            <a:off x="6400800" y="3639312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6863" y="3775375"/>
            <a:ext cx="294803" cy="294803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811012" y="4242816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‏استقبال الطلبات</a:t>
            </a:r>
            <a:endParaRPr lang="ar-SA" sz="1200" dirty="0"/>
          </a:p>
        </p:txBody>
      </p:sp>
      <p:sp>
        <p:nvSpPr>
          <p:cNvPr id="52" name="Text 39"/>
          <p:cNvSpPr/>
          <p:nvPr/>
        </p:nvSpPr>
        <p:spPr>
          <a:xfrm>
            <a:off x="5811012" y="455371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‏طلبات مطابقة للفئة والمنطقة وفرص مفتوحة.</a:t>
            </a:r>
            <a:endParaRPr lang="ar-SA" sz="850" dirty="0"/>
          </a:p>
        </p:txBody>
      </p:sp>
      <p:sp>
        <p:nvSpPr>
          <p:cNvPr id="53" name="Shape 40"/>
          <p:cNvSpPr/>
          <p:nvPr/>
        </p:nvSpPr>
        <p:spPr>
          <a:xfrm>
            <a:off x="4288536" y="3639312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4599" y="3775375"/>
            <a:ext cx="294803" cy="294803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3698748" y="4242816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‏تقديم العروض</a:t>
            </a:r>
            <a:endParaRPr lang="ar-SA" sz="1200" dirty="0"/>
          </a:p>
        </p:txBody>
      </p:sp>
      <p:sp>
        <p:nvSpPr>
          <p:cNvPr id="56" name="Text 42"/>
          <p:cNvSpPr/>
          <p:nvPr/>
        </p:nvSpPr>
        <p:spPr>
          <a:xfrm>
            <a:off x="3698748" y="455371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‏عروض مفصّلة وواضحة مع حفظ كل نسخة.</a:t>
            </a:r>
            <a:endParaRPr lang="ar-SA" sz="850" dirty="0"/>
          </a:p>
        </p:txBody>
      </p:sp>
      <p:sp>
        <p:nvSpPr>
          <p:cNvPr id="57" name="Shape 43"/>
          <p:cNvSpPr/>
          <p:nvPr/>
        </p:nvSpPr>
        <p:spPr>
          <a:xfrm>
            <a:off x="2176272" y="3639312"/>
            <a:ext cx="566928" cy="566928"/>
          </a:xfrm>
          <a:prstGeom prst="ellipse">
            <a:avLst/>
          </a:prstGeom>
          <a:solidFill>
            <a:srgbClr val="E8ECF6"/>
          </a:solidFill>
          <a:ln w="12700">
            <a:solidFill>
              <a:srgbClr val="E8E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2335" y="3775375"/>
            <a:ext cx="294803" cy="294803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1586484" y="4242816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‏الحجز والتقييم</a:t>
            </a:r>
            <a:endParaRPr lang="ar-SA" sz="1200" dirty="0"/>
          </a:p>
        </p:txBody>
      </p:sp>
      <p:sp>
        <p:nvSpPr>
          <p:cNvPr id="60" name="Text 45"/>
          <p:cNvSpPr/>
          <p:nvPr/>
        </p:nvSpPr>
        <p:spPr>
          <a:xfrm>
            <a:off x="1586484" y="455371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85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‏تأكيد الحجز، التنفيذ، ثم تقييم متبادل.</a:t>
            </a:r>
            <a:endParaRPr lang="ar-SA" sz="850" dirty="0"/>
          </a:p>
        </p:txBody>
      </p:sp>
      <p:sp>
        <p:nvSpPr>
          <p:cNvPr id="61" name="Text 4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8 / 17</a:t>
            </a:r>
            <a:endParaRPr lang="en-US" sz="900" dirty="0"/>
          </a:p>
        </p:txBody>
      </p:sp>
      <p:sp>
        <p:nvSpPr>
          <p:cNvPr id="62" name="Text 4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2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3" dur="3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4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3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7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9" dur="3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0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3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5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8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2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5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8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0" dur="3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1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3" dur="3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4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3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7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9" dur="3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0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2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3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5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6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8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9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3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2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4" dur="300"/>
                                  <p:tgtEl>
                                    <p:spTgt spid="5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5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300"/>
                                  <p:tgtEl>
                                    <p:spTgt spid="5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0" dur="300"/>
                                  <p:tgtEl>
                                    <p:spTgt spid="6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‏للموردين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‏ماذا يحصل عليه المورّد على سيفنت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181344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3024" y="1828800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642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‏شارة التحقق</a:t>
            </a:r>
            <a:endParaRPr lang="ar-SA" sz="1300" dirty="0"/>
          </a:p>
        </p:txBody>
      </p:sp>
      <p:sp>
        <p:nvSpPr>
          <p:cNvPr id="8" name="Text 5"/>
          <p:cNvSpPr/>
          <p:nvPr/>
        </p:nvSpPr>
        <p:spPr>
          <a:xfrm>
            <a:off x="6364224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‏اعتماد رسمي بعد فحص المستندات (سجل تجاري، ضريبة، بنك) لبناء ثقة العميل.</a:t>
            </a:r>
            <a:endParaRPr lang="ar-SA" sz="1000" dirty="0"/>
          </a:p>
        </p:txBody>
      </p:sp>
      <p:sp>
        <p:nvSpPr>
          <p:cNvPr id="9" name="Shape 6"/>
          <p:cNvSpPr/>
          <p:nvPr/>
        </p:nvSpPr>
        <p:spPr>
          <a:xfrm>
            <a:off x="3319272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30952" y="1828800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‏ملف عام احترافي</a:t>
            </a:r>
            <a:endParaRPr lang="ar-SA" sz="1300" dirty="0"/>
          </a:p>
        </p:txBody>
      </p:sp>
      <p:sp>
        <p:nvSpPr>
          <p:cNvPr id="13" name="Text 9"/>
          <p:cNvSpPr/>
          <p:nvPr/>
        </p:nvSpPr>
        <p:spPr>
          <a:xfrm>
            <a:off x="3502152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‏صفحة كاملة قابلة للتخصيص: خدمات، باقات، أسعار، أعمال، تقييمات.</a:t>
            </a:r>
            <a:endParaRPr lang="ar-SA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468880" y="1828800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1938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‏كتالوج خدمات</a:t>
            </a:r>
            <a:endParaRPr lang="ar-SA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‏باقات وقواعد تسعير لتسريع تقديم العروض واتساقها.</a:t>
            </a:r>
            <a:endParaRPr lang="ar-SA" sz="1000" dirty="0"/>
          </a:p>
        </p:txBody>
      </p:sp>
      <p:sp>
        <p:nvSpPr>
          <p:cNvPr id="19" name="Shape 14"/>
          <p:cNvSpPr/>
          <p:nvPr/>
        </p:nvSpPr>
        <p:spPr>
          <a:xfrm>
            <a:off x="6181344" y="3090672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193024" y="3273552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3832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4224" y="32735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‏طلبات مؤهَّلة</a:t>
            </a:r>
            <a:endParaRPr lang="ar-SA" sz="1300" dirty="0"/>
          </a:p>
        </p:txBody>
      </p:sp>
      <p:sp>
        <p:nvSpPr>
          <p:cNvPr id="23" name="Text 17"/>
          <p:cNvSpPr/>
          <p:nvPr/>
        </p:nvSpPr>
        <p:spPr>
          <a:xfrm>
            <a:off x="6364224" y="3749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‏طلبات منظَّمة مطابقة للفئة والمنطقة بدل المتابعات الباردة.</a:t>
            </a:r>
            <a:endParaRPr lang="ar-SA" sz="1000" dirty="0"/>
          </a:p>
        </p:txBody>
      </p:sp>
      <p:sp>
        <p:nvSpPr>
          <p:cNvPr id="24" name="Shape 18"/>
          <p:cNvSpPr/>
          <p:nvPr/>
        </p:nvSpPr>
        <p:spPr>
          <a:xfrm>
            <a:off x="3319272" y="3090672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330952" y="3273552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38328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02152" y="32735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‏منشئ العروض</a:t>
            </a:r>
            <a:endParaRPr lang="ar-SA" sz="1300" dirty="0"/>
          </a:p>
        </p:txBody>
      </p:sp>
      <p:sp>
        <p:nvSpPr>
          <p:cNvPr id="28" name="Text 21"/>
          <p:cNvSpPr/>
          <p:nvPr/>
        </p:nvSpPr>
        <p:spPr>
          <a:xfrm>
            <a:off x="3502152" y="3749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‏عروض مفصّلة وواضحة، مع حفظ كل نسخة كسجل موثّق.</a:t>
            </a:r>
            <a:endParaRPr lang="ar-SA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090672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468880" y="3273552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608" y="338328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" y="32735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‏تقويم وحجوزات</a:t>
            </a:r>
            <a:endParaRPr lang="ar-SA" sz="1300" dirty="0"/>
          </a:p>
        </p:txBody>
      </p:sp>
      <p:sp>
        <p:nvSpPr>
          <p:cNvPr id="33" name="Text 25"/>
          <p:cNvSpPr/>
          <p:nvPr/>
        </p:nvSpPr>
        <p:spPr>
          <a:xfrm>
            <a:off x="640080" y="3749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‏إدارة التوافر والحجوزات في مكان واحد: محجوز، مؤكّد، أو متاح.</a:t>
            </a:r>
            <a:endParaRPr lang="ar-SA" sz="1000" dirty="0"/>
          </a:p>
        </p:txBody>
      </p:sp>
      <p:sp>
        <p:nvSpPr>
          <p:cNvPr id="34" name="Text 2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10 / 17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‏للمنظّمين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‏ماذا يحصل عليه المنظّم على سيفنت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181344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93024" y="1828800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642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‏استكشاف وبحث</a:t>
            </a:r>
            <a:endParaRPr lang="ar-SA" sz="1300" dirty="0"/>
          </a:p>
        </p:txBody>
      </p:sp>
      <p:sp>
        <p:nvSpPr>
          <p:cNvPr id="8" name="Text 5"/>
          <p:cNvSpPr/>
          <p:nvPr/>
        </p:nvSpPr>
        <p:spPr>
          <a:xfrm>
            <a:off x="6364224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‏تصفّح الموردين حسب الفئة، واستعراض الملفات المعتمدة والمنشورة.</a:t>
            </a:r>
            <a:endParaRPr lang="ar-SA" sz="1000" dirty="0"/>
          </a:p>
        </p:txBody>
      </p:sp>
      <p:sp>
        <p:nvSpPr>
          <p:cNvPr id="9" name="Shape 6"/>
          <p:cNvSpPr/>
          <p:nvPr/>
        </p:nvSpPr>
        <p:spPr>
          <a:xfrm>
            <a:off x="3319272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30952" y="1828800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 واحد يصل لكثيرين</a:t>
            </a:r>
            <a:endParaRPr lang="ar-SA" sz="1300" dirty="0"/>
          </a:p>
        </p:txBody>
      </p:sp>
      <p:sp>
        <p:nvSpPr>
          <p:cNvPr id="13" name="Text 9"/>
          <p:cNvSpPr/>
          <p:nvPr/>
        </p:nvSpPr>
        <p:spPr>
          <a:xfrm>
            <a:off x="3502152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‏طلب منظَّم يصل إلى عدة موردين مُتحقَّق منهم دفعة واحدة.</a:t>
            </a:r>
            <a:endParaRPr lang="ar-SA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164592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468880" y="1828800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1938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‏مقارنة جنبًا إلى جنب</a:t>
            </a:r>
            <a:endParaRPr lang="ar-SA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‏تقييم كل العروض في عرض موحَّد، مع خيار التصدير والطباعة.</a:t>
            </a:r>
            <a:endParaRPr lang="ar-SA" sz="1000" dirty="0"/>
          </a:p>
        </p:txBody>
      </p:sp>
      <p:sp>
        <p:nvSpPr>
          <p:cNvPr id="19" name="Shape 14"/>
          <p:cNvSpPr/>
          <p:nvPr/>
        </p:nvSpPr>
        <p:spPr>
          <a:xfrm>
            <a:off x="6181344" y="3090672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193024" y="3273552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3832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4224" y="32735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‏إدارة الفعاليات بمكان واحد</a:t>
            </a:r>
            <a:endParaRPr lang="ar-SA" sz="1300" dirty="0"/>
          </a:p>
        </p:txBody>
      </p:sp>
      <p:sp>
        <p:nvSpPr>
          <p:cNvPr id="23" name="Text 17"/>
          <p:cNvSpPr/>
          <p:nvPr/>
        </p:nvSpPr>
        <p:spPr>
          <a:xfrm>
            <a:off x="6364224" y="3749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‏تتبع كل فعالية وكل طلب وكل حجز من لوحة واحدة.</a:t>
            </a:r>
            <a:endParaRPr lang="ar-SA" sz="1000" dirty="0"/>
          </a:p>
        </p:txBody>
      </p:sp>
      <p:sp>
        <p:nvSpPr>
          <p:cNvPr id="24" name="Shape 18"/>
          <p:cNvSpPr/>
          <p:nvPr/>
        </p:nvSpPr>
        <p:spPr>
          <a:xfrm>
            <a:off x="3319272" y="3090672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5330952" y="3273552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38328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02152" y="32735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‏موردون موثوقون ومحاسَبون</a:t>
            </a:r>
            <a:endParaRPr lang="ar-SA" sz="1300" dirty="0"/>
          </a:p>
        </p:txBody>
      </p:sp>
      <p:sp>
        <p:nvSpPr>
          <p:cNvPr id="28" name="Text 21"/>
          <p:cNvSpPr/>
          <p:nvPr/>
        </p:nvSpPr>
        <p:spPr>
          <a:xfrm>
            <a:off x="3502152" y="3749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‏كل مورّد قابل للحجز مفحوص، والتقييمات من حجوزات حقيقية فقط.</a:t>
            </a:r>
            <a:endParaRPr lang="ar-SA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090672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468880" y="3273552"/>
            <a:ext cx="457200" cy="45720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608" y="338328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" y="32735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‏سجل لكل شيء</a:t>
            </a:r>
            <a:endParaRPr lang="ar-SA" sz="1300" dirty="0"/>
          </a:p>
        </p:txBody>
      </p:sp>
      <p:sp>
        <p:nvSpPr>
          <p:cNvPr id="33" name="Text 25"/>
          <p:cNvSpPr/>
          <p:nvPr/>
        </p:nvSpPr>
        <p:spPr>
          <a:xfrm>
            <a:off x="640080" y="37490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‏أثر كامل من الطلب إلى الحجز يحفظ الاتفاقات والقرارات.</a:t>
            </a:r>
            <a:endParaRPr lang="ar-SA" sz="1000" dirty="0"/>
          </a:p>
        </p:txBody>
      </p:sp>
      <p:sp>
        <p:nvSpPr>
          <p:cNvPr id="34" name="Text 2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11 / 17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‏نطاق الخدمات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‏فئات الخدمات على المنصة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766560" y="164592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29500" y="1847088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19" y="200070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‏الصوتيات والإضاءة</a:t>
            </a:r>
            <a:endParaRPr lang="ar-SA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64592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326380" y="1847088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999" y="2000707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‏التصوير والفيديو</a:t>
            </a:r>
            <a:endParaRPr lang="ar-SA" sz="1200" dirty="0"/>
          </a:p>
        </p:txBody>
      </p:sp>
      <p:sp>
        <p:nvSpPr>
          <p:cNvPr id="12" name="Shape 8"/>
          <p:cNvSpPr/>
          <p:nvPr/>
        </p:nvSpPr>
        <p:spPr>
          <a:xfrm>
            <a:off x="2560320" y="164592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23260" y="1847088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879" y="200070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5176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‏الضيافة والإعاشة</a:t>
            </a:r>
            <a:endParaRPr lang="ar-SA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164592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120140" y="1847088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759" y="2000707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" y="25420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‏المسارح والإنشاءات</a:t>
            </a:r>
            <a:endParaRPr lang="ar-SA" sz="1200" dirty="0"/>
          </a:p>
        </p:txBody>
      </p:sp>
      <p:sp>
        <p:nvSpPr>
          <p:cNvPr id="20" name="Shape 14"/>
          <p:cNvSpPr/>
          <p:nvPr/>
        </p:nvSpPr>
        <p:spPr>
          <a:xfrm>
            <a:off x="6766560" y="313639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7429500" y="3337560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119" y="349117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403250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‏الأثاث والمعدات</a:t>
            </a:r>
            <a:endParaRPr lang="ar-SA" sz="1200" dirty="0"/>
          </a:p>
        </p:txBody>
      </p:sp>
      <p:sp>
        <p:nvSpPr>
          <p:cNvPr id="24" name="Shape 17"/>
          <p:cNvSpPr/>
          <p:nvPr/>
        </p:nvSpPr>
        <p:spPr>
          <a:xfrm>
            <a:off x="4663440" y="313639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5326380" y="3337560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9999" y="349117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54880" y="403250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‏الترفيه</a:t>
            </a:r>
            <a:endParaRPr lang="ar-SA" sz="1200" dirty="0"/>
          </a:p>
        </p:txBody>
      </p:sp>
      <p:sp>
        <p:nvSpPr>
          <p:cNvPr id="28" name="Shape 20"/>
          <p:cNvSpPr/>
          <p:nvPr/>
        </p:nvSpPr>
        <p:spPr>
          <a:xfrm>
            <a:off x="2560320" y="313639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3223260" y="3337560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6879" y="3491179"/>
            <a:ext cx="332842" cy="33284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651760" y="403250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‏النقل واللوجستيات</a:t>
            </a:r>
            <a:endParaRPr lang="ar-SA" sz="1200" dirty="0"/>
          </a:p>
        </p:txBody>
      </p:sp>
      <p:sp>
        <p:nvSpPr>
          <p:cNvPr id="32" name="Shape 23"/>
          <p:cNvSpPr/>
          <p:nvPr/>
        </p:nvSpPr>
        <p:spPr>
          <a:xfrm>
            <a:off x="457200" y="3136392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1120140" y="3337560"/>
            <a:ext cx="640080" cy="64008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3759" y="3491179"/>
            <a:ext cx="332842" cy="33284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48640" y="403250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‏الديكور والتنسيق</a:t>
            </a:r>
            <a:endParaRPr lang="ar-SA" sz="1200" dirty="0"/>
          </a:p>
        </p:txBody>
      </p:sp>
      <p:sp>
        <p:nvSpPr>
          <p:cNvPr id="36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100" i="1" dirty="0">
                <a:solidFill>
                  <a:srgbClr val="6B7280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‏تصنيف موحَّد يجعل البحث والمطابقة والمقارنة تعمل باتساق عبر المنصة.</a:t>
            </a:r>
            <a:endParaRPr lang="ar-SA" sz="1100" dirty="0"/>
          </a:p>
        </p:txBody>
      </p:sp>
      <p:sp>
        <p:nvSpPr>
          <p:cNvPr id="37" name="Text 27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12 / 17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51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‏الثقة والامتثال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‏بنية محلية موثوقة ومطابقة للأنظمة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617720" y="169164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0" y="1828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‏التزامات تنظيمية سعودية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8092440" y="2286000"/>
            <a:ext cx="365760" cy="3657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222" y="2373782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006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‏موردون معتمدون من الهيئة العامة للترفيه</a:t>
            </a:r>
            <a:endParaRPr lang="ar-SA" sz="1100" dirty="0"/>
          </a:p>
        </p:txBody>
      </p:sp>
      <p:sp>
        <p:nvSpPr>
          <p:cNvPr id="9" name="Shape 6"/>
          <p:cNvSpPr/>
          <p:nvPr/>
        </p:nvSpPr>
        <p:spPr>
          <a:xfrm>
            <a:off x="8092440" y="2743200"/>
            <a:ext cx="365760" cy="3657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222" y="2830982"/>
            <a:ext cx="190195" cy="1901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‏فوترة إلكترونية متوافقة مع زاتكا</a:t>
            </a:r>
            <a:endParaRPr lang="ar-SA" sz="1100" dirty="0"/>
          </a:p>
        </p:txBody>
      </p:sp>
      <p:sp>
        <p:nvSpPr>
          <p:cNvPr id="12" name="Shape 8"/>
          <p:cNvSpPr/>
          <p:nvPr/>
        </p:nvSpPr>
        <p:spPr>
          <a:xfrm>
            <a:off x="8092440" y="3200400"/>
            <a:ext cx="365760" cy="3657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222" y="3288182"/>
            <a:ext cx="190195" cy="1901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‏مدفوعات عبر مدى و Apple Pay</a:t>
            </a:r>
            <a:endParaRPr lang="ar-SA" sz="1100" dirty="0"/>
          </a:p>
        </p:txBody>
      </p:sp>
      <p:sp>
        <p:nvSpPr>
          <p:cNvPr id="15" name="Shape 10"/>
          <p:cNvSpPr/>
          <p:nvPr/>
        </p:nvSpPr>
        <p:spPr>
          <a:xfrm>
            <a:off x="8092440" y="3657600"/>
            <a:ext cx="365760" cy="3657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222" y="3745382"/>
            <a:ext cx="190195" cy="1901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006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‏حساب ضمان معتمد من البنك المركزي السعودي</a:t>
            </a:r>
            <a:endParaRPr lang="ar-SA" sz="1100" dirty="0"/>
          </a:p>
        </p:txBody>
      </p:sp>
      <p:sp>
        <p:nvSpPr>
          <p:cNvPr id="18" name="Shape 12"/>
          <p:cNvSpPr/>
          <p:nvPr/>
        </p:nvSpPr>
        <p:spPr>
          <a:xfrm>
            <a:off x="8092440" y="4114800"/>
            <a:ext cx="365760" cy="36576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0222" y="4202582"/>
            <a:ext cx="190195" cy="1901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0060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‏عقود رقمية ومدفوعات 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موثقة</a:t>
            </a:r>
            <a:endParaRPr lang="ar-SA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1691640"/>
            <a:ext cx="40690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85800" y="1828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‏ثقة المنصة</a:t>
            </a:r>
            <a:endParaRPr lang="ar-SA" sz="1400" dirty="0"/>
          </a:p>
        </p:txBody>
      </p:sp>
      <p:sp>
        <p:nvSpPr>
          <p:cNvPr id="23" name="Shape 16"/>
          <p:cNvSpPr/>
          <p:nvPr/>
        </p:nvSpPr>
        <p:spPr>
          <a:xfrm>
            <a:off x="3931920" y="228600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702" y="2373782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‏التحقق من المورّد قبل إتاحته للحجز</a:t>
            </a:r>
            <a:endParaRPr lang="ar-SA" sz="1100" dirty="0"/>
          </a:p>
        </p:txBody>
      </p:sp>
      <p:sp>
        <p:nvSpPr>
          <p:cNvPr id="26" name="Shape 18"/>
          <p:cNvSpPr/>
          <p:nvPr/>
        </p:nvSpPr>
        <p:spPr>
          <a:xfrm>
            <a:off x="3931920" y="274320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9702" y="2830982"/>
            <a:ext cx="190195" cy="19019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008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‏تقييمات مرتبطة بحجوزات حقيقية فقط</a:t>
            </a:r>
            <a:endParaRPr lang="ar-SA" sz="1100" dirty="0"/>
          </a:p>
        </p:txBody>
      </p:sp>
      <p:sp>
        <p:nvSpPr>
          <p:cNvPr id="29" name="Shape 20"/>
          <p:cNvSpPr/>
          <p:nvPr/>
        </p:nvSpPr>
        <p:spPr>
          <a:xfrm>
            <a:off x="3931920" y="320040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9702" y="3288182"/>
            <a:ext cx="190195" cy="19019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4008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‏أثر موثّق من الطلب إلى الحجز</a:t>
            </a:r>
            <a:endParaRPr lang="ar-SA" sz="1100" dirty="0"/>
          </a:p>
        </p:txBody>
      </p:sp>
      <p:sp>
        <p:nvSpPr>
          <p:cNvPr id="32" name="Shape 22"/>
          <p:cNvSpPr/>
          <p:nvPr/>
        </p:nvSpPr>
        <p:spPr>
          <a:xfrm>
            <a:off x="3931920" y="365760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9702" y="3745382"/>
            <a:ext cx="190195" cy="19019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400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‏إشراف إداري ومراجعة مستمرة</a:t>
            </a:r>
            <a:endParaRPr lang="ar-SA" sz="1100" dirty="0"/>
          </a:p>
        </p:txBody>
      </p:sp>
      <p:sp>
        <p:nvSpPr>
          <p:cNvPr id="35" name="Shape 24"/>
          <p:cNvSpPr/>
          <p:nvPr/>
        </p:nvSpPr>
        <p:spPr>
          <a:xfrm>
            <a:off x="3931920" y="4114800"/>
            <a:ext cx="365760" cy="36576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9702" y="4202582"/>
            <a:ext cx="190195" cy="19019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مصممة بالعربية لخمدة سكان المملكة</a:t>
            </a:r>
            <a:endParaRPr lang="ar-SA" sz="1100" dirty="0"/>
          </a:p>
        </p:txBody>
      </p:sp>
      <p:sp>
        <p:nvSpPr>
          <p:cNvPr id="38" name="Text 26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13 / 17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3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3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2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3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3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3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3" dur="3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3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9" dur="3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3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5" dur="3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3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3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‏نموذج الأعمال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JO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نموذج ايرادات سيفنت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169164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09160" y="1691640"/>
            <a:ext cx="3977640" cy="164592"/>
          </a:xfrm>
          <a:prstGeom prst="rect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5240" y="2103120"/>
            <a:ext cx="731520" cy="731520"/>
          </a:xfrm>
          <a:prstGeom prst="ellipse">
            <a:avLst/>
          </a:prstGeom>
          <a:solidFill>
            <a:srgbClr val="4A7AE2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805" y="22786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834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‏عمولة على الحجوزات</a:t>
            </a:r>
            <a:endParaRPr lang="ar-SA" sz="1800" dirty="0"/>
          </a:p>
        </p:txBody>
      </p:sp>
      <p:sp>
        <p:nvSpPr>
          <p:cNvPr id="9" name="Text 6"/>
          <p:cNvSpPr/>
          <p:nvPr/>
        </p:nvSpPr>
        <p:spPr>
          <a:xfrm>
            <a:off x="4983480" y="2606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‏إيراد مرتبط بالقيمة</a:t>
            </a:r>
            <a:endParaRPr lang="ar-SA" sz="1100" dirty="0"/>
          </a:p>
        </p:txBody>
      </p:sp>
      <p:sp>
        <p:nvSpPr>
          <p:cNvPr id="10" name="Text 7"/>
          <p:cNvSpPr/>
          <p:nvPr/>
        </p:nvSpPr>
        <p:spPr>
          <a:xfrm>
            <a:off x="4983480" y="31089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2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‏نسبة على الحجوزات المؤكَّدة عبر المنصة. لا تُكسب سيفنت إلا حين </a:t>
            </a:r>
            <a:r>
              <a:rPr lang="ar-JO" sz="12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ينتهي عمل</a:t>
            </a:r>
            <a:r>
              <a:rPr lang="ar-SA" sz="12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 الأطراف. الإيراد مرتبط مباشرةً بال</a:t>
            </a:r>
            <a:r>
              <a:rPr lang="ar-JO" sz="12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انجاز</a:t>
            </a:r>
            <a:r>
              <a:rPr lang="ar-SA" sz="12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.</a:t>
            </a:r>
            <a:endParaRPr lang="ar-SA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3977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691640"/>
            <a:ext cx="3977640" cy="16459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83280" y="2103120"/>
            <a:ext cx="731520" cy="73152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845" y="227868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‏اشتراكات الموردين</a:t>
            </a:r>
            <a:endParaRPr lang="ar-SA" sz="1800" dirty="0"/>
          </a:p>
        </p:txBody>
      </p:sp>
      <p:sp>
        <p:nvSpPr>
          <p:cNvPr id="16" name="Text 12"/>
          <p:cNvSpPr/>
          <p:nvPr/>
        </p:nvSpPr>
        <p:spPr>
          <a:xfrm>
            <a:off x="731520" y="2606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‏إيراد متكرر</a:t>
            </a:r>
            <a:endParaRPr lang="ar-SA" sz="1100" dirty="0"/>
          </a:p>
        </p:txBody>
      </p:sp>
      <p:sp>
        <p:nvSpPr>
          <p:cNvPr id="17" name="Text 13"/>
          <p:cNvSpPr/>
          <p:nvPr/>
        </p:nvSpPr>
        <p:spPr>
          <a:xfrm>
            <a:off x="731520" y="310896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2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‏باقات اشتراك تمنح الموردين ظهورًا أوسع، وحدودًا أعلى، ومزايا إضافية. إيراد متكرر ينمو مع توسّع قاعدة الموردين.</a:t>
            </a:r>
            <a:endParaRPr lang="ar-SA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000" i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‏ملاحظة: مصادر إيراد إضافية مثل القوائم المميّزة والاتفاقيات المؤسسية قد تُدرس لاحقًا، وليست جزءًا من النموذج الأساسي اليوم.</a:t>
            </a:r>
            <a:endParaRPr lang="ar-SA" sz="1000" dirty="0"/>
          </a:p>
        </p:txBody>
      </p:sp>
      <p:sp>
        <p:nvSpPr>
          <p:cNvPr id="19" name="Text 15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14 / 17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‏خارطة الطريق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‏مسار النمو الطبيعي للمنصة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610362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6102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102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‏١</a:t>
            </a:r>
            <a:endParaRPr lang="ar-SA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2148840"/>
            <a:ext cx="822960" cy="82296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90" y="23463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8650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‏تعميق السوق ثنائي الجانب</a:t>
            </a:r>
            <a:endParaRPr lang="ar-SA" sz="1400" dirty="0"/>
          </a:p>
        </p:txBody>
      </p:sp>
      <p:sp>
        <p:nvSpPr>
          <p:cNvPr id="10" name="Text 7"/>
          <p:cNvSpPr/>
          <p:nvPr/>
        </p:nvSpPr>
        <p:spPr>
          <a:xfrm>
            <a:off x="6286500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‏توسيع قاعدة الموردين والمنظّمين في المدن الأعلى نشاطًا.</a:t>
            </a:r>
            <a:endParaRPr lang="ar-SA" sz="1000" dirty="0"/>
          </a:p>
        </p:txBody>
      </p:sp>
      <p:sp>
        <p:nvSpPr>
          <p:cNvPr id="11" name="Shape 8"/>
          <p:cNvSpPr/>
          <p:nvPr/>
        </p:nvSpPr>
        <p:spPr>
          <a:xfrm>
            <a:off x="322326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28066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8066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‏٢</a:t>
            </a:r>
            <a:endParaRPr lang="ar-SA" sz="1600" dirty="0"/>
          </a:p>
        </p:txBody>
      </p:sp>
      <p:sp>
        <p:nvSpPr>
          <p:cNvPr id="14" name="Shape 11"/>
          <p:cNvSpPr/>
          <p:nvPr/>
        </p:nvSpPr>
        <p:spPr>
          <a:xfrm>
            <a:off x="4160520" y="2148840"/>
            <a:ext cx="822960" cy="82296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030" y="2346350"/>
            <a:ext cx="427939" cy="42793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614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‏التوسّع الجغرافي</a:t>
            </a:r>
            <a:endParaRPr lang="ar-SA" sz="1400" dirty="0"/>
          </a:p>
        </p:txBody>
      </p:sp>
      <p:sp>
        <p:nvSpPr>
          <p:cNvPr id="17" name="Text 13"/>
          <p:cNvSpPr/>
          <p:nvPr/>
        </p:nvSpPr>
        <p:spPr>
          <a:xfrm>
            <a:off x="3406140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‏الانتشار في المراكز الرئيسية للفعاليات على مستوى المملكة.</a:t>
            </a:r>
            <a:endParaRPr lang="ar-SA" sz="1000" dirty="0"/>
          </a:p>
        </p:txBody>
      </p:sp>
      <p:sp>
        <p:nvSpPr>
          <p:cNvPr id="18" name="Shape 14"/>
          <p:cNvSpPr/>
          <p:nvPr/>
        </p:nvSpPr>
        <p:spPr>
          <a:xfrm>
            <a:off x="342900" y="178308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400300" y="1618488"/>
            <a:ext cx="502920" cy="502920"/>
          </a:xfrm>
          <a:prstGeom prst="ellipse">
            <a:avLst/>
          </a:prstGeom>
          <a:solidFill>
            <a:srgbClr val="4A7AE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40030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6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‏٣</a:t>
            </a:r>
            <a:endParaRPr lang="ar-SA" sz="1600" dirty="0"/>
          </a:p>
        </p:txBody>
      </p:sp>
      <p:sp>
        <p:nvSpPr>
          <p:cNvPr id="21" name="Shape 17"/>
          <p:cNvSpPr/>
          <p:nvPr/>
        </p:nvSpPr>
        <p:spPr>
          <a:xfrm>
            <a:off x="1280160" y="2148840"/>
            <a:ext cx="822960" cy="82296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670" y="2346350"/>
            <a:ext cx="427939" cy="42793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‏فتح جانب المستهلك (B2C)</a:t>
            </a:r>
            <a:endParaRPr lang="ar-SA" sz="1400" dirty="0"/>
          </a:p>
        </p:txBody>
      </p:sp>
      <p:sp>
        <p:nvSpPr>
          <p:cNvPr id="24" name="Text 19"/>
          <p:cNvSpPr/>
          <p:nvPr/>
        </p:nvSpPr>
        <p:spPr>
          <a:xfrm>
            <a:off x="525780" y="36118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sz="10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‏استقبال الأفراد لفعالياتهم الخاصة بعد رسوخ السوق المهني.</a:t>
            </a:r>
            <a:endParaRPr lang="ar-SA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i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‏قوة السوق ثنائي الجانب: كل مورّد جديد يجعل المنصة أكثر فائدة للمنظّم، وكل منظّم جديد يجعلها أكثر جذبًا للموردين.</a:t>
            </a:r>
            <a:endParaRPr lang="ar-SA" sz="1200" dirty="0"/>
          </a:p>
        </p:txBody>
      </p:sp>
      <p:sp>
        <p:nvSpPr>
          <p:cNvPr id="26" name="Text 21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15 / 17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nodeType="withEffect">
                            <p:stCondLst>
                              <p:cond delay="44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3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5" dur="3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3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‏التوقيت</a:t>
            </a:r>
            <a:endParaRPr lang="ar-SA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sz="28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‏لماذا الآن؟</a:t>
            </a:r>
            <a:endParaRPr lang="ar-SA" sz="2800" dirty="0"/>
          </a:p>
        </p:txBody>
      </p:sp>
      <p:sp>
        <p:nvSpPr>
          <p:cNvPr id="4" name="Shape 2"/>
          <p:cNvSpPr/>
          <p:nvPr/>
        </p:nvSpPr>
        <p:spPr>
          <a:xfrm>
            <a:off x="4709160" y="16916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1920240"/>
            <a:ext cx="457200" cy="45720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8348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‏نمو سريع في قطاع الفعاليات</a:t>
            </a:r>
            <a:endParaRPr lang="ar-SA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24688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‏فعاليات أكثر وإنفاق أعلى </a:t>
            </a:r>
            <a:r>
              <a:rPr lang="ar-JO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ينمو </a:t>
            </a: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عامًا بعد عام في المملكة.</a:t>
            </a:r>
            <a:endParaRPr lang="ar-SA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94760" y="1920240"/>
            <a:ext cx="457200" cy="45720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947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‏توجّه وطني نحو الرقمنة</a:t>
            </a:r>
            <a:endParaRPr lang="ar-SA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‏اقتصاد رسمي ورقمي، بينما قطاع الفعاليات لا يزال إلى حد كبير غير رسمي وغير متّصل رقميًا.</a:t>
            </a:r>
            <a:endParaRPr lang="ar-SA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2918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3520440"/>
            <a:ext cx="457200" cy="45720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‏فراغ في المنافسة المحلية</a:t>
            </a:r>
            <a:endParaRPr lang="ar-SA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4069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‏لا منصة سعودية مهيمنة بالعربية مبنية خصيصًا لهذا السوق.</a:t>
            </a:r>
            <a:endParaRPr lang="ar-SA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94760" y="3520440"/>
            <a:ext cx="457200" cy="457200"/>
          </a:xfrm>
          <a:prstGeom prst="ellipse">
            <a:avLst/>
          </a:prstGeom>
          <a:solidFill>
            <a:srgbClr val="EAF0FD"/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947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400" b="1" dirty="0">
                <a:solidFill>
                  <a:srgbClr val="0F1B3D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‏جيل جديد من المستخدمين</a:t>
            </a:r>
            <a:endParaRPr lang="ar-SA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069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ar-SA" sz="1100" dirty="0">
                <a:solidFill>
                  <a:srgbClr val="374151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‏منظّمون وموردون يتوقعون تجربة رقمية وتطبيقية لكل ما يفعلون.</a:t>
            </a:r>
            <a:endParaRPr lang="ar-SA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16 /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9CA3A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</a:t>
            </a:r>
            <a:endParaRPr lang="ar-SA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nodeType="withEffect">
                            <p:stCondLst>
                              <p:cond delay="370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3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3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3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3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3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3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4A7AE2">
              <a:alpha val="12000"/>
            </a:srgbClr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4A7AE2">
              <a:alpha val="10000"/>
            </a:srgbClr>
          </a:solidFill>
          <a:ln w="12700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91840" y="64008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sevent_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0" y="758952"/>
            <a:ext cx="219456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32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‏سيفنت. لحظ</a:t>
            </a:r>
            <a:r>
              <a:rPr lang="ar-JO" sz="32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ة الاطلاق </a:t>
            </a:r>
            <a:r>
              <a:rPr lang="ar-SA" sz="3200" b="1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حانت.</a:t>
            </a:r>
            <a:endParaRPr lang="ar-SA" sz="3200" dirty="0"/>
          </a:p>
        </p:txBody>
      </p:sp>
      <p:sp>
        <p:nvSpPr>
          <p:cNvPr id="7" name="Shape 4"/>
          <p:cNvSpPr/>
          <p:nvPr/>
        </p:nvSpPr>
        <p:spPr>
          <a:xfrm>
            <a:off x="2286000" y="288036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1B2952"/>
          </a:solidFill>
          <a:ln w="9525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‏سوق رقمي محلي بالعربية أولًا</a:t>
            </a:r>
            <a:endParaRPr lang="ar-SA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338328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1B2952"/>
          </a:solidFill>
          <a:ln w="9525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6000" y="3383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‏نموذج إيراد ثنائي </a:t>
            </a:r>
            <a:r>
              <a:rPr lang="ar-JO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متماسك</a:t>
            </a:r>
            <a:endParaRPr lang="ar-SA" sz="1200" dirty="0"/>
          </a:p>
        </p:txBody>
      </p:sp>
      <p:sp>
        <p:nvSpPr>
          <p:cNvPr id="11" name="Shape 8"/>
          <p:cNvSpPr/>
          <p:nvPr/>
        </p:nvSpPr>
        <p:spPr>
          <a:xfrm>
            <a:off x="2286000" y="388620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1B2952"/>
          </a:solidFill>
          <a:ln w="9525">
            <a:solidFill>
              <a:srgbClr val="4A7A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8600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200" dirty="0">
                <a:solidFill>
                  <a:srgbClr val="FFFFFF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‏بنية ثقة وامتثال مطابقة للسوق السعودي</a:t>
            </a:r>
            <a:endParaRPr lang="ar-SA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1600" i="1" dirty="0">
                <a:solidFill>
                  <a:srgbClr val="4A7AE2"/>
                </a:solidFill>
                <a:latin typeface="DIN Next LT Arabic" pitchFamily="34" charset="0"/>
                <a:ea typeface="DIN Next LT Arabic" pitchFamily="34" charset="-122"/>
                <a:cs typeface="DIN Next LT Arabic" pitchFamily="34" charset="-120"/>
              </a:rPr>
              <a:t>‏شكرًا.</a:t>
            </a:r>
            <a:endParaRPr lang="ar-SA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3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3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nodeType="withEffect">
                            <p:stCondLst>
                              <p:cond delay="81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nodeType="with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3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nodeType="with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C66CC6-13E9-45A9-B6EC-6BEDEF8001C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aba20e5-77cb-4b96-b324-ed4f9cf89b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1615</Words>
  <Application>Microsoft Office PowerPoint</Application>
  <PresentationFormat>On-screen Show (16:9)</PresentationFormat>
  <Paragraphs>307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DIN Next LT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Sevent — نظرة عامة</dc:title>
  <dc:subject>PptxGenJS Presentation</dc:subject>
  <dc:creator>Sevent</dc:creator>
  <cp:lastModifiedBy>Ahmad G</cp:lastModifiedBy>
  <cp:revision>3</cp:revision>
  <dcterms:created xsi:type="dcterms:W3CDTF">2026-05-16T13:54:54Z</dcterms:created>
  <dcterms:modified xsi:type="dcterms:W3CDTF">2026-05-17T12:08:22Z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2026-05-16T15:30:17Z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80c4bc4d-9c2c-4326-bd6d-cc3d01817ddc</vt:lpwstr>
  </property>
  <property fmtid="{D5CDD505-2E9C-101B-9397-08002B2CF9AE}" pid="7" name="MSIP_Label_defa4170-0d19-0005-0004-bc88714345d2_ActionId">
    <vt:lpwstr>3c584b2f-fc51-4c29-b81f-840cfd3af1a9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