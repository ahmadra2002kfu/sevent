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7150" autoAdjust="0"/>
    <p:restoredTop sz="94610"/>
  </p:normalViewPr>
  <p:slideViewPr>
    <p:cSldViewPr snapToGrid="0" snapToObjects="1">
      <p:cViewPr varScale="1">
        <p:scale>
          <a:sx n="103" d="100"/>
          <a:sy n="103" d="100"/>
        </p:scale>
        <p:origin x="114"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2735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2747"/>
          </a:solidFill>
          <a:ln/>
        </p:spPr>
      </p:sp>
      <p:sp>
        <p:nvSpPr>
          <p:cNvPr id="3" name="Text 1"/>
          <p:cNvSpPr/>
          <p:nvPr/>
        </p:nvSpPr>
        <p:spPr>
          <a:xfrm>
            <a:off x="7619695" y="6446520"/>
            <a:ext cx="4114800" cy="320040"/>
          </a:xfrm>
          <a:prstGeom prst="rect">
            <a:avLst/>
          </a:prstGeom>
          <a:noFill/>
          <a:ln/>
        </p:spPr>
        <p:txBody>
          <a:bodyPr wrap="square" rtlCol="0" anchor="ctr"/>
          <a:lstStyle/>
          <a:p>
            <a:pPr marL="0" indent="0" algn="r">
              <a:buNone/>
            </a:pPr>
            <a:r>
              <a:rPr lang="en-US" sz="1000" dirty="0">
                <a:solidFill>
                  <a:srgbClr val="6B7280"/>
                </a:solidFill>
                <a:latin typeface="Cairo" pitchFamily="34" charset="0"/>
                <a:ea typeface="Cairo" pitchFamily="34" charset="-122"/>
                <a:cs typeface="Cairo" pitchFamily="34" charset="-120"/>
              </a:rPr>
              <a:t>منصة سفنت — رحلة انضمام الموردين</a:t>
            </a:r>
            <a:endParaRPr lang="en-US" sz="1000" dirty="0"/>
          </a:p>
        </p:txBody>
      </p:sp>
      <p:sp>
        <p:nvSpPr>
          <p:cNvPr id="25" name="Slide Number Placeholder 0"/>
          <p:cNvSpPr>
            <a:spLocks noGrp="1"/>
          </p:cNvSpPr>
          <p:nvPr>
            <p:ph type="sldNum" sz="quarter" idx="4294967295"/>
          </p:nvPr>
        </p:nvSpPr>
        <p:spPr>
          <a:xfrm>
            <a:off x="457200" y="6446520"/>
            <a:ext cx="13716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46520"/>
            <a:ext cx="13716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7"/>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5132"/>
          </a:solidFill>
          <a:ln w="12700">
            <a:solidFill>
              <a:srgbClr val="1F5132"/>
            </a:solidFill>
            <a:prstDash val="solid"/>
          </a:ln>
        </p:spPr>
        <p:txBody>
          <a:bodyPr/>
          <a:lstStyle/>
          <a:p>
            <a:endParaRPr lang="en-US"/>
          </a:p>
        </p:txBody>
      </p:sp>
      <p:sp>
        <p:nvSpPr>
          <p:cNvPr id="3" name="Text 1"/>
          <p:cNvSpPr/>
          <p:nvPr/>
        </p:nvSpPr>
        <p:spPr>
          <a:xfrm>
            <a:off x="457200" y="640080"/>
            <a:ext cx="11277295" cy="457200"/>
          </a:xfrm>
          <a:prstGeom prst="rect">
            <a:avLst/>
          </a:prstGeom>
          <a:noFill/>
          <a:ln/>
        </p:spPr>
        <p:txBody>
          <a:bodyPr wrap="square" rtlCol="0" anchor="ctr"/>
          <a:lstStyle/>
          <a:p>
            <a:pPr marL="0" indent="0" algn="r" rtl="1">
              <a:buNone/>
            </a:pPr>
            <a:r>
              <a:rPr lang="en-US" sz="1800" dirty="0">
                <a:solidFill>
                  <a:srgbClr val="A7F3D0"/>
                </a:solidFill>
                <a:latin typeface="Cairo" pitchFamily="34" charset="0"/>
                <a:ea typeface="Cairo" pitchFamily="34" charset="-122"/>
                <a:cs typeface="Cairo" pitchFamily="34" charset="-120"/>
              </a:rPr>
              <a:t>منصة سفنت</a:t>
            </a:r>
            <a:endParaRPr lang="en-US" sz="1800" dirty="0"/>
          </a:p>
        </p:txBody>
      </p:sp>
      <p:sp>
        <p:nvSpPr>
          <p:cNvPr id="4" name="Text 2"/>
          <p:cNvSpPr/>
          <p:nvPr/>
        </p:nvSpPr>
        <p:spPr>
          <a:xfrm>
            <a:off x="457200" y="2194560"/>
            <a:ext cx="11277295" cy="1463040"/>
          </a:xfrm>
          <a:prstGeom prst="rect">
            <a:avLst/>
          </a:prstGeom>
          <a:noFill/>
          <a:ln/>
        </p:spPr>
        <p:txBody>
          <a:bodyPr wrap="square" rtlCol="0" anchor="ctr"/>
          <a:lstStyle/>
          <a:p>
            <a:pPr marL="0" indent="0" algn="r" rtl="1">
              <a:buNone/>
            </a:pPr>
            <a:r>
              <a:rPr lang="en-US" sz="5200" b="1" dirty="0">
                <a:solidFill>
                  <a:srgbClr val="FFFFFF"/>
                </a:solidFill>
                <a:latin typeface="Cairo" pitchFamily="34" charset="0"/>
                <a:ea typeface="Cairo" pitchFamily="34" charset="-122"/>
                <a:cs typeface="Cairo" pitchFamily="34" charset="-120"/>
              </a:rPr>
              <a:t>رحلة انضمام الموردين — التجربة الجديدة</a:t>
            </a:r>
            <a:endParaRPr lang="en-US" sz="5200" dirty="0"/>
          </a:p>
        </p:txBody>
      </p:sp>
      <p:sp>
        <p:nvSpPr>
          <p:cNvPr id="5" name="Text 3"/>
          <p:cNvSpPr/>
          <p:nvPr/>
        </p:nvSpPr>
        <p:spPr>
          <a:xfrm>
            <a:off x="457200" y="3840480"/>
            <a:ext cx="11277295" cy="640080"/>
          </a:xfrm>
          <a:prstGeom prst="rect">
            <a:avLst/>
          </a:prstGeom>
          <a:noFill/>
          <a:ln/>
        </p:spPr>
        <p:txBody>
          <a:bodyPr wrap="square" rtlCol="0" anchor="ctr"/>
          <a:lstStyle/>
          <a:p>
            <a:pPr marL="0" indent="0" algn="r" rtl="1">
              <a:buNone/>
            </a:pPr>
            <a:r>
              <a:rPr lang="en-US" sz="2400" dirty="0">
                <a:solidFill>
                  <a:srgbClr val="D1FAE5"/>
                </a:solidFill>
                <a:latin typeface="Cairo" pitchFamily="34" charset="0"/>
                <a:ea typeface="Cairo" pitchFamily="34" charset="-122"/>
                <a:cs typeface="Cairo" pitchFamily="34" charset="-120"/>
              </a:rPr>
              <a:t>جولة بصرية على التدفّق المُعاد تصميمه</a:t>
            </a:r>
            <a:endParaRPr lang="en-US" sz="2400" dirty="0"/>
          </a:p>
        </p:txBody>
      </p:sp>
      <p:sp>
        <p:nvSpPr>
          <p:cNvPr id="6" name="Text 4"/>
          <p:cNvSpPr/>
          <p:nvPr/>
        </p:nvSpPr>
        <p:spPr>
          <a:xfrm>
            <a:off x="457200" y="5760720"/>
            <a:ext cx="11277295" cy="457200"/>
          </a:xfrm>
          <a:prstGeom prst="rect">
            <a:avLst/>
          </a:prstGeom>
          <a:noFill/>
          <a:ln/>
        </p:spPr>
        <p:txBody>
          <a:bodyPr wrap="square" rtlCol="0" anchor="ctr"/>
          <a:lstStyle/>
          <a:p>
            <a:pPr marL="0" indent="0" algn="r" rtl="1">
              <a:buNone/>
            </a:pPr>
            <a:r>
              <a:rPr lang="en-US" sz="1400" dirty="0">
                <a:solidFill>
                  <a:srgbClr val="A7F3D0"/>
                </a:solidFill>
                <a:latin typeface="Cairo" pitchFamily="34" charset="0"/>
                <a:ea typeface="Cairo" pitchFamily="34" charset="-122"/>
                <a:cs typeface="Cairo" pitchFamily="34" charset="-120"/>
              </a:rPr>
              <a:t>التقرير الأسبوعي · 26 أبريل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هدف إعادة التصميم</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Text 2"/>
          <p:cNvSpPr/>
          <p:nvPr/>
        </p:nvSpPr>
        <p:spPr>
          <a:xfrm>
            <a:off x="457200" y="1417320"/>
            <a:ext cx="11277295" cy="914400"/>
          </a:xfrm>
          <a:prstGeom prst="rect">
            <a:avLst/>
          </a:prstGeom>
          <a:noFill/>
          <a:ln/>
        </p:spPr>
        <p:txBody>
          <a:bodyPr wrap="square" rtlCol="0" anchor="ctr"/>
          <a:lstStyle/>
          <a:p>
            <a:pPr marL="0" indent="0" algn="r" rtl="1">
              <a:buNone/>
            </a:pPr>
            <a:r>
              <a:rPr lang="en-US" sz="1800" dirty="0">
                <a:solidFill>
                  <a:srgbClr val="111827"/>
                </a:solidFill>
                <a:latin typeface="Cairo" pitchFamily="34" charset="0"/>
                <a:ea typeface="Cairo" pitchFamily="34" charset="-122"/>
                <a:cs typeface="Cairo" pitchFamily="34" charset="-120"/>
              </a:rPr>
              <a:t>أعدنا تصميم رحلة انضمام الموردين لتُشجّع الإكمال وتُقلّل التسرّب، عبر خطوات قصيرة ومرئية تنتقل بالمورد من إنشاء الحساب وحتى دخوله سوق الفعاليات.</a:t>
            </a:r>
            <a:endParaRPr lang="en-US" sz="1800" dirty="0"/>
          </a:p>
        </p:txBody>
      </p:sp>
      <p:sp>
        <p:nvSpPr>
          <p:cNvPr id="5" name="Text 3"/>
          <p:cNvSpPr/>
          <p:nvPr/>
        </p:nvSpPr>
        <p:spPr>
          <a:xfrm>
            <a:off x="457200" y="2514600"/>
            <a:ext cx="11277295" cy="3794760"/>
          </a:xfrm>
          <a:prstGeom prst="rect">
            <a:avLst/>
          </a:prstGeom>
          <a:noFill/>
          <a:ln/>
        </p:spPr>
        <p:txBody>
          <a:bodyPr wrap="square" rtlCol="0" anchor="t"/>
          <a:lstStyle/>
          <a:p>
            <a:pPr marL="279400" indent="-279400" algn="r" rtl="1">
              <a:spcAft>
                <a:spcPts val="1200"/>
              </a:spcAft>
              <a:buSzPct val="100000"/>
              <a:buChar char="•"/>
            </a:pPr>
            <a:r>
              <a:rPr lang="en-US" sz="2000" dirty="0">
                <a:solidFill>
                  <a:srgbClr val="111827"/>
                </a:solidFill>
                <a:latin typeface="Cairo" pitchFamily="34" charset="0"/>
                <a:ea typeface="Cairo" pitchFamily="34" charset="-122"/>
                <a:cs typeface="Cairo" pitchFamily="34" charset="-120"/>
              </a:rPr>
              <a:t>تقليل التسرّب في كل خطوة عبر تجربة واضحة ومُتدرّجة.توضيح المتطلبات مسبقاً (السجل التجاري، شهادة آيبان، الفئات) قبل البدء.تسريع الوصول إلى مرحلة استقبال طلبات العروض بعد اعتماد الإدارة.</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747"/>
        </a:solidFill>
        <a:effectLst/>
      </p:bgPr>
    </p:bg>
    <p:spTree>
      <p:nvGrpSpPr>
        <p:cNvPr id="1" name=""/>
        <p:cNvGrpSpPr/>
        <p:nvPr/>
      </p:nvGrpSpPr>
      <p:grpSpPr>
        <a:xfrm>
          <a:off x="0" y="0"/>
          <a:ext cx="0" cy="0"/>
          <a:chOff x="0" y="0"/>
          <a:chExt cx="0" cy="0"/>
        </a:xfrm>
      </p:grpSpPr>
      <p:sp>
        <p:nvSpPr>
          <p:cNvPr id="2" name="Text 0"/>
          <p:cNvSpPr/>
          <p:nvPr/>
        </p:nvSpPr>
        <p:spPr>
          <a:xfrm>
            <a:off x="0" y="1005840"/>
            <a:ext cx="12191695" cy="2286000"/>
          </a:xfrm>
          <a:prstGeom prst="rect">
            <a:avLst/>
          </a:prstGeom>
          <a:noFill/>
          <a:ln/>
        </p:spPr>
        <p:txBody>
          <a:bodyPr wrap="square" rtlCol="0" anchor="ctr"/>
          <a:lstStyle/>
          <a:p>
            <a:pPr marL="0" indent="0" algn="ctr">
              <a:buNone/>
            </a:pPr>
            <a:r>
              <a:rPr lang="en-US" sz="18000" b="1" dirty="0">
                <a:solidFill>
                  <a:srgbClr val="0A1B33"/>
                </a:solidFill>
                <a:latin typeface="Segoe UI" pitchFamily="34" charset="0"/>
                <a:ea typeface="Segoe UI" pitchFamily="34" charset="-122"/>
                <a:cs typeface="Segoe UI" pitchFamily="34" charset="-120"/>
              </a:rPr>
              <a:t>1</a:t>
            </a:r>
            <a:endParaRPr lang="en-US" sz="18000" dirty="0"/>
          </a:p>
        </p:txBody>
      </p:sp>
      <p:sp>
        <p:nvSpPr>
          <p:cNvPr id="3" name="Text 1"/>
          <p:cNvSpPr/>
          <p:nvPr/>
        </p:nvSpPr>
        <p:spPr>
          <a:xfrm>
            <a:off x="457200" y="3657600"/>
            <a:ext cx="11277295" cy="91440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إنشاء الحساب</a:t>
            </a:r>
            <a:endParaRPr lang="en-US" sz="4000" dirty="0"/>
          </a:p>
        </p:txBody>
      </p:sp>
      <p:sp>
        <p:nvSpPr>
          <p:cNvPr id="4" name="Text 2"/>
          <p:cNvSpPr/>
          <p:nvPr/>
        </p:nvSpPr>
        <p:spPr>
          <a:xfrm>
            <a:off x="457200" y="4617720"/>
            <a:ext cx="11277295" cy="64008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نقطة الدخول للمورد إلى المنصة</a:t>
            </a:r>
            <a:endParaRPr lang="en-US" sz="1800" dirty="0"/>
          </a:p>
        </p:txBody>
      </p:sp>
      <p:sp>
        <p:nvSpPr>
          <p:cNvPr id="5" name="Shape 3"/>
          <p:cNvSpPr/>
          <p:nvPr/>
        </p:nvSpPr>
        <p:spPr>
          <a:xfrm>
            <a:off x="5547208" y="5440680"/>
            <a:ext cx="1097280" cy="54864"/>
          </a:xfrm>
          <a:prstGeom prst="rect">
            <a:avLst/>
          </a:prstGeom>
          <a:solidFill>
            <a:srgbClr val="1F5132"/>
          </a:solidFill>
          <a:ln w="12700">
            <a:solidFill>
              <a:srgbClr val="1F5132"/>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الصفحة الرئيسية ومدخل المورد</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65257.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بداية الرحلة</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من الصفحة الرئيسية لمنصة سفنت، يفتح الزائر قائمة "إنشاء حساب" ويختار خيار "أنا مورد — قدّم خدماتك للمنظّمين" للانتقال إلى تدفّق التسجيل المخصص للموردين.</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نموذج إنشاء حساب مزوّد الخدمة</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65323.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حقول التسجيل الأساسية</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نموذج موجز يطلب البريد الإلكتروني للعمل، رقم الجوال (مع كود +966)، وكلمة مرور لا تقل عن 8 أحرف، مع موافقة صريحة على الشروط وسياسة الخصوصية. اللوحة الجانبية تُبرز ثلاث قيم: طلبات حقيقية، ضمان الدفع، وتوثيق رسمي عبر السجل التجاري.</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747"/>
        </a:solidFill>
        <a:effectLst/>
      </p:bgPr>
    </p:bg>
    <p:spTree>
      <p:nvGrpSpPr>
        <p:cNvPr id="1" name=""/>
        <p:cNvGrpSpPr/>
        <p:nvPr/>
      </p:nvGrpSpPr>
      <p:grpSpPr>
        <a:xfrm>
          <a:off x="0" y="0"/>
          <a:ext cx="0" cy="0"/>
          <a:chOff x="0" y="0"/>
          <a:chExt cx="0" cy="0"/>
        </a:xfrm>
      </p:grpSpPr>
      <p:sp>
        <p:nvSpPr>
          <p:cNvPr id="2" name="Text 0"/>
          <p:cNvSpPr/>
          <p:nvPr/>
        </p:nvSpPr>
        <p:spPr>
          <a:xfrm>
            <a:off x="0" y="1005840"/>
            <a:ext cx="12191695" cy="2286000"/>
          </a:xfrm>
          <a:prstGeom prst="rect">
            <a:avLst/>
          </a:prstGeom>
          <a:noFill/>
          <a:ln/>
        </p:spPr>
        <p:txBody>
          <a:bodyPr wrap="square" rtlCol="0" anchor="ctr"/>
          <a:lstStyle/>
          <a:p>
            <a:pPr marL="0" indent="0" algn="ctr">
              <a:buNone/>
            </a:pPr>
            <a:r>
              <a:rPr lang="en-US" sz="18000" b="1" dirty="0">
                <a:solidFill>
                  <a:srgbClr val="0A1B33"/>
                </a:solidFill>
                <a:latin typeface="Segoe UI" pitchFamily="34" charset="0"/>
                <a:ea typeface="Segoe UI" pitchFamily="34" charset="-122"/>
                <a:cs typeface="Segoe UI" pitchFamily="34" charset="-120"/>
              </a:rPr>
              <a:t>2</a:t>
            </a:r>
            <a:endParaRPr lang="en-US" sz="18000" dirty="0"/>
          </a:p>
        </p:txBody>
      </p:sp>
      <p:sp>
        <p:nvSpPr>
          <p:cNvPr id="3" name="Text 1"/>
          <p:cNvSpPr/>
          <p:nvPr/>
        </p:nvSpPr>
        <p:spPr>
          <a:xfrm>
            <a:off x="457200" y="3657600"/>
            <a:ext cx="11277295" cy="91440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الملف التجاري والوثائق</a:t>
            </a:r>
            <a:endParaRPr lang="en-US" sz="4000" dirty="0"/>
          </a:p>
        </p:txBody>
      </p:sp>
      <p:sp>
        <p:nvSpPr>
          <p:cNvPr id="4" name="Text 2"/>
          <p:cNvSpPr/>
          <p:nvPr/>
        </p:nvSpPr>
        <p:spPr>
          <a:xfrm>
            <a:off x="457200" y="4617720"/>
            <a:ext cx="11277295" cy="64008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تحديد طبيعة النشاط وتعبئة بيانات المنشأة</a:t>
            </a:r>
            <a:endParaRPr lang="en-US" sz="1800" dirty="0"/>
          </a:p>
        </p:txBody>
      </p:sp>
      <p:sp>
        <p:nvSpPr>
          <p:cNvPr id="5" name="Shape 3"/>
          <p:cNvSpPr/>
          <p:nvPr/>
        </p:nvSpPr>
        <p:spPr>
          <a:xfrm>
            <a:off x="5547208" y="5440680"/>
            <a:ext cx="1097280" cy="54864"/>
          </a:xfrm>
          <a:prstGeom prst="rect">
            <a:avLst/>
          </a:prstGeom>
          <a:solidFill>
            <a:srgbClr val="1F5132"/>
          </a:solidFill>
          <a:ln w="12700">
            <a:solidFill>
              <a:srgbClr val="1F5132"/>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تخصيص الرحلة بحسب شكل النشاط</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65334.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شركة مسجّلة أم مستقل؟</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في خطوة "حدّثنا عن نشاطك"، يختار المورد بين مسارين: شركة مسجّلة (سجل تجاري، شهادة آيبان، ملف اختياري) مع شارة مزوّد موثّق، أو مستقل/صاحب عمل فردي (هوية وطنية وشهادة آيبان). كل مسار يعرض الوقت المتوقع والمتطلبات قبل البدء.</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الخطوة 1 — معلومات النشاط</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65449.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بطاقة المعاينة الحيّة</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يعبّئ المورد اسم المسؤول، اسم المنشأة، نبذة قصيرة، ورقم السجل التجاري. يدعم النموذج استيراد البيانات تلقائياً من رابط الموقع الإلكتروني، وتظهر بطاقة معاينة على اليمين تُحاكي شكل ملفه العام أمام المنظّمين، مع تذكير بأن النبذة تزيد طلبات العروض بنسبة تصل إلى 40%.</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نطاق الخدمة واللغات</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65459.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تغطية جغرافية ولغوية</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يحدد المورد المدينة الرئيسية ومدن نطاق الخدمة (حتى 15 مدينة)، مع خيار "أخدم جميع مدن المملكة" لإخفاء قائمة المدن عند تفعيله، إضافة إلى اللغات التي يعمل بها (العربية والإنجليزية)، لتصل طلبات العروض المناسبة فقط للمنطقة واللغة الصحيحة.</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747"/>
        </a:solidFill>
        <a:effectLst/>
      </p:bgPr>
    </p:bg>
    <p:spTree>
      <p:nvGrpSpPr>
        <p:cNvPr id="1" name=""/>
        <p:cNvGrpSpPr/>
        <p:nvPr/>
      </p:nvGrpSpPr>
      <p:grpSpPr>
        <a:xfrm>
          <a:off x="0" y="0"/>
          <a:ext cx="0" cy="0"/>
          <a:chOff x="0" y="0"/>
          <a:chExt cx="0" cy="0"/>
        </a:xfrm>
      </p:grpSpPr>
      <p:sp>
        <p:nvSpPr>
          <p:cNvPr id="2" name="Text 0"/>
          <p:cNvSpPr/>
          <p:nvPr/>
        </p:nvSpPr>
        <p:spPr>
          <a:xfrm>
            <a:off x="0" y="1005840"/>
            <a:ext cx="12191695" cy="2286000"/>
          </a:xfrm>
          <a:prstGeom prst="rect">
            <a:avLst/>
          </a:prstGeom>
          <a:noFill/>
          <a:ln/>
        </p:spPr>
        <p:txBody>
          <a:bodyPr wrap="square" rtlCol="0" anchor="ctr"/>
          <a:lstStyle/>
          <a:p>
            <a:pPr marL="0" indent="0" algn="ctr">
              <a:buNone/>
            </a:pPr>
            <a:r>
              <a:rPr lang="en-US" sz="18000" b="1" dirty="0">
                <a:solidFill>
                  <a:srgbClr val="0A1B33"/>
                </a:solidFill>
                <a:latin typeface="Segoe UI" pitchFamily="34" charset="0"/>
                <a:ea typeface="Segoe UI" pitchFamily="34" charset="-122"/>
                <a:cs typeface="Segoe UI" pitchFamily="34" charset="-120"/>
              </a:rPr>
              <a:t>3</a:t>
            </a:r>
            <a:endParaRPr lang="en-US" sz="18000" dirty="0"/>
          </a:p>
        </p:txBody>
      </p:sp>
      <p:sp>
        <p:nvSpPr>
          <p:cNvPr id="3" name="Text 1"/>
          <p:cNvSpPr/>
          <p:nvPr/>
        </p:nvSpPr>
        <p:spPr>
          <a:xfrm>
            <a:off x="457200" y="3657600"/>
            <a:ext cx="11277295" cy="91440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الفئات والشرائح</a:t>
            </a:r>
            <a:endParaRPr lang="en-US" sz="4000" dirty="0"/>
          </a:p>
        </p:txBody>
      </p:sp>
      <p:sp>
        <p:nvSpPr>
          <p:cNvPr id="4" name="Text 2"/>
          <p:cNvSpPr/>
          <p:nvPr/>
        </p:nvSpPr>
        <p:spPr>
          <a:xfrm>
            <a:off x="457200" y="4617720"/>
            <a:ext cx="11277295" cy="64008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اختيار الخدمات الدقيقة التي يقدّمها المورد</a:t>
            </a:r>
            <a:endParaRPr lang="en-US" sz="1800" dirty="0"/>
          </a:p>
        </p:txBody>
      </p:sp>
      <p:sp>
        <p:nvSpPr>
          <p:cNvPr id="5" name="Shape 3"/>
          <p:cNvSpPr/>
          <p:nvPr/>
        </p:nvSpPr>
        <p:spPr>
          <a:xfrm>
            <a:off x="5547208" y="5440680"/>
            <a:ext cx="1097280" cy="54864"/>
          </a:xfrm>
          <a:prstGeom prst="rect">
            <a:avLst/>
          </a:prstGeom>
          <a:solidFill>
            <a:srgbClr val="1F5132"/>
          </a:solidFill>
          <a:ln w="12700">
            <a:solidFill>
              <a:srgbClr val="1F5132"/>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الخطوة 2 — الفئات والشرائح</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65517.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اختيار دقيق يجذب طلبات أنسب</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تعرض المنصة الفئات الرئيسية (صوت وإضاءة، كهرباء وطاقة، مكياج وتجميل، زهور وديكور، تنسيق وإدارة، استاندات ومعارض، نقل ولوجستيات...) ضمن مجموعات قابلة للبحث. التوصية الذكية تنبّه المورد إلى أن اختيار 3–4 فئات أفضل من عشر فئات لرفع جودة الطلبات.</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747"/>
        </a:solidFill>
        <a:effectLst/>
      </p:bgPr>
    </p:bg>
    <p:spTree>
      <p:nvGrpSpPr>
        <p:cNvPr id="1" name=""/>
        <p:cNvGrpSpPr/>
        <p:nvPr/>
      </p:nvGrpSpPr>
      <p:grpSpPr>
        <a:xfrm>
          <a:off x="0" y="0"/>
          <a:ext cx="0" cy="0"/>
          <a:chOff x="0" y="0"/>
          <a:chExt cx="0" cy="0"/>
        </a:xfrm>
      </p:grpSpPr>
      <p:sp>
        <p:nvSpPr>
          <p:cNvPr id="2" name="Text 0"/>
          <p:cNvSpPr/>
          <p:nvPr/>
        </p:nvSpPr>
        <p:spPr>
          <a:xfrm>
            <a:off x="0" y="1005840"/>
            <a:ext cx="12191695" cy="2286000"/>
          </a:xfrm>
          <a:prstGeom prst="rect">
            <a:avLst/>
          </a:prstGeom>
          <a:noFill/>
          <a:ln/>
        </p:spPr>
        <p:txBody>
          <a:bodyPr wrap="square" rtlCol="0" anchor="ctr"/>
          <a:lstStyle/>
          <a:p>
            <a:pPr marL="0" indent="0" algn="ctr">
              <a:buNone/>
            </a:pPr>
            <a:r>
              <a:rPr lang="en-US" sz="18000" b="1" dirty="0">
                <a:solidFill>
                  <a:srgbClr val="0A1B33"/>
                </a:solidFill>
                <a:latin typeface="Segoe UI" pitchFamily="34" charset="0"/>
                <a:ea typeface="Segoe UI" pitchFamily="34" charset="-122"/>
                <a:cs typeface="Segoe UI" pitchFamily="34" charset="-120"/>
              </a:rPr>
              <a:t>4</a:t>
            </a:r>
            <a:endParaRPr lang="en-US" sz="18000" dirty="0"/>
          </a:p>
        </p:txBody>
      </p:sp>
      <p:sp>
        <p:nvSpPr>
          <p:cNvPr id="3" name="Text 1"/>
          <p:cNvSpPr/>
          <p:nvPr/>
        </p:nvSpPr>
        <p:spPr>
          <a:xfrm>
            <a:off x="457200" y="3657600"/>
            <a:ext cx="11277295" cy="91440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مراجعة الإدارة والاعتماد</a:t>
            </a:r>
            <a:endParaRPr lang="en-US" sz="4000" dirty="0"/>
          </a:p>
        </p:txBody>
      </p:sp>
      <p:sp>
        <p:nvSpPr>
          <p:cNvPr id="4" name="Text 2"/>
          <p:cNvSpPr/>
          <p:nvPr/>
        </p:nvSpPr>
        <p:spPr>
          <a:xfrm>
            <a:off x="457200" y="4617720"/>
            <a:ext cx="11277295" cy="64008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خطوة التحقق قبل ظهور المورد للمنظّمين</a:t>
            </a:r>
            <a:endParaRPr lang="en-US" sz="1800" dirty="0"/>
          </a:p>
        </p:txBody>
      </p:sp>
      <p:sp>
        <p:nvSpPr>
          <p:cNvPr id="5" name="Shape 3"/>
          <p:cNvSpPr/>
          <p:nvPr/>
        </p:nvSpPr>
        <p:spPr>
          <a:xfrm>
            <a:off x="5547208" y="5440680"/>
            <a:ext cx="1097280" cy="54864"/>
          </a:xfrm>
          <a:prstGeom prst="rect">
            <a:avLst/>
          </a:prstGeom>
          <a:solidFill>
            <a:srgbClr val="1F5132"/>
          </a:solidFill>
          <a:ln w="12700">
            <a:solidFill>
              <a:srgbClr val="1F5132"/>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0F2747"/>
                </a:solidFill>
                <a:latin typeface="Cairo" pitchFamily="34" charset="0"/>
                <a:ea typeface="Cairo" pitchFamily="34" charset="-122"/>
                <a:cs typeface="Cairo" pitchFamily="34" charset="-120"/>
              </a:rPr>
              <a:t>حالة الطلب — قيد المراجعة</a:t>
            </a:r>
            <a:endParaRPr lang="en-US" sz="3000" dirty="0"/>
          </a:p>
        </p:txBody>
      </p:sp>
      <p:sp>
        <p:nvSpPr>
          <p:cNvPr id="3" name="Shape 1"/>
          <p:cNvSpPr/>
          <p:nvPr/>
        </p:nvSpPr>
        <p:spPr>
          <a:xfrm>
            <a:off x="10454335" y="1216152"/>
            <a:ext cx="1280160" cy="54864"/>
          </a:xfrm>
          <a:prstGeom prst="rect">
            <a:avLst/>
          </a:prstGeom>
          <a:solidFill>
            <a:srgbClr val="1F5132"/>
          </a:solidFill>
          <a:ln w="12700">
            <a:solidFill>
              <a:srgbClr val="1F5132"/>
            </a:solidFill>
            <a:prstDash val="solid"/>
          </a:ln>
        </p:spPr>
        <p:txBody>
          <a:bodyPr/>
          <a:lstStyle/>
          <a:p>
            <a:endParaRPr lang="en-US"/>
          </a:p>
        </p:txBody>
      </p:sp>
      <p:sp>
        <p:nvSpPr>
          <p:cNvPr id="4" name="Shape 2"/>
          <p:cNvSpPr/>
          <p:nvPr/>
        </p:nvSpPr>
        <p:spPr>
          <a:xfrm>
            <a:off x="3998671" y="1362456"/>
            <a:ext cx="7790688" cy="4544568"/>
          </a:xfrm>
          <a:prstGeom prst="rect">
            <a:avLst/>
          </a:prstGeom>
          <a:solidFill>
            <a:srgbClr val="F7F4EE"/>
          </a:solidFill>
          <a:ln w="6350">
            <a:solidFill>
              <a:srgbClr val="E5E7EB"/>
            </a:solidFill>
            <a:prstDash val="solid"/>
          </a:ln>
        </p:spPr>
        <p:txBody>
          <a:bodyPr/>
          <a:lstStyle/>
          <a:p>
            <a:endParaRPr lang="en-US"/>
          </a:p>
        </p:txBody>
      </p:sp>
      <p:pic>
        <p:nvPicPr>
          <p:cNvPr id="5" name="Image 0" descr="D:\Mufeed\Sevent\Screenshots\Suppliers Onboarding\Screenshot 2026-04-26 171942.png"/>
          <p:cNvPicPr>
            <a:picLocks noChangeAspect="1"/>
          </p:cNvPicPr>
          <p:nvPr/>
        </p:nvPicPr>
        <p:blipFill>
          <a:blip r:embed="rId3"/>
          <a:srcRect/>
          <a:stretch/>
        </p:blipFill>
        <p:spPr>
          <a:xfrm>
            <a:off x="4053535" y="1417320"/>
            <a:ext cx="7680960" cy="4434840"/>
          </a:xfrm>
          <a:prstGeom prst="rect">
            <a:avLst/>
          </a:prstGeom>
        </p:spPr>
      </p:pic>
      <p:sp>
        <p:nvSpPr>
          <p:cNvPr id="6" name="Text 3"/>
          <p:cNvSpPr/>
          <p:nvPr/>
        </p:nvSpPr>
        <p:spPr>
          <a:xfrm>
            <a:off x="457200" y="1417320"/>
            <a:ext cx="3322015" cy="640080"/>
          </a:xfrm>
          <a:prstGeom prst="rect">
            <a:avLst/>
          </a:prstGeom>
          <a:noFill/>
          <a:ln/>
        </p:spPr>
        <p:txBody>
          <a:bodyPr wrap="square" rtlCol="0" anchor="ctr"/>
          <a:lstStyle/>
          <a:p>
            <a:pPr marL="0" indent="0" algn="r" rtl="1">
              <a:buNone/>
            </a:pPr>
            <a:r>
              <a:rPr lang="en-US" sz="2200" b="1" dirty="0">
                <a:solidFill>
                  <a:srgbClr val="1F5132"/>
                </a:solidFill>
                <a:latin typeface="Cairo" pitchFamily="34" charset="0"/>
                <a:ea typeface="Cairo" pitchFamily="34" charset="-122"/>
                <a:cs typeface="Cairo" pitchFamily="34" charset="-120"/>
              </a:rPr>
              <a:t>استلمنا طلبك</a:t>
            </a:r>
            <a:endParaRPr lang="en-US" sz="2200" dirty="0"/>
          </a:p>
        </p:txBody>
      </p:sp>
      <p:sp>
        <p:nvSpPr>
          <p:cNvPr id="7" name="Text 4"/>
          <p:cNvSpPr/>
          <p:nvPr/>
        </p:nvSpPr>
        <p:spPr>
          <a:xfrm>
            <a:off x="457200" y="2148840"/>
            <a:ext cx="3322015" cy="3703320"/>
          </a:xfrm>
          <a:prstGeom prst="rect">
            <a:avLst/>
          </a:prstGeom>
          <a:noFill/>
          <a:ln/>
        </p:spPr>
        <p:txBody>
          <a:bodyPr wrap="square" rtlCol="0" anchor="t"/>
          <a:lstStyle/>
          <a:p>
            <a:pPr marL="0" indent="0" algn="r" rtl="1">
              <a:spcAft>
                <a:spcPts val="800"/>
              </a:spcAft>
              <a:buNone/>
            </a:pPr>
            <a:r>
              <a:rPr lang="en-US" sz="1600" dirty="0">
                <a:solidFill>
                  <a:srgbClr val="111827"/>
                </a:solidFill>
                <a:latin typeface="Cairo" pitchFamily="34" charset="0"/>
                <a:ea typeface="Cairo" pitchFamily="34" charset="-122"/>
                <a:cs typeface="Cairo" pitchFamily="34" charset="-120"/>
              </a:rPr>
              <a:t>بعد إكمال الخطوات، تظهر للمورد شاشة تأكيد رسمية تُعلمه بأن فريق التوثيق يراجع مستنداته خلال 24 ساعة عمل، مع وعد بإشعار عبر بريده فور الاعتماد، وإمكانية العودة إلى لوحة التحكم أو التحدث مع فريق التوثيق مباشرةً.</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499</Words>
  <Application>Microsoft Office PowerPoint</Application>
  <PresentationFormat>Widescreen</PresentationFormat>
  <Paragraphs>53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Cairo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Sevent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رحلة انضمام الموردين — منصة سفنت</dc:title>
  <dc:subject>PptxGenJS Presentation</dc:subject>
  <dc:creator>فريق سفنت</dc:creator>
  <cp:lastModifiedBy>Ahmad G</cp:lastModifiedBy>
  <cp:revision>2</cp:revision>
  <dcterms:created xsi:type="dcterms:W3CDTF">2026-04-26T14:29:34Z</dcterms:created>
  <dcterms:modified xsi:type="dcterms:W3CDTF">2026-04-26T14:46:32Z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2026-04-26T14:39:25Z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80c4bc4d-9c2c-4326-bd6d-cc3d01817ddc</vt:lpwstr>
  </property>
  <property fmtid="{D5CDD505-2E9C-101B-9397-08002B2CF9AE}" pid="7" name="MSIP_Label_defa4170-0d19-0005-0004-bc88714345d2_ActionId">
    <vt:lpwstr>ce61ca34-5d16-42a8-bc1c-4eabc4733df3</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